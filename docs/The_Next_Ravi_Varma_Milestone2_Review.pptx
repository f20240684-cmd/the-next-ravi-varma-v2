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0cd9cf00-b7f6-53bc-3ccb-655297ddd425}">
          <p14:sldIdLst>
            <p14:sldId id="256"/>
            <p14:sldId id="257"/>
            <p14:sldId id="258"/>
          </p14:sldIdLst>
        </p14:section>
        <p14:section name="Work done" id="{dc3293ba-f8e5-39bb-2f92-28c53b29abe5}">
          <p14:sldIdLst>
            <p14:sldId id="259"/>
            <p14:sldId id="260"/>
            <p14:sldId id="261"/>
            <p14:sldId id="262"/>
          </p14:sldIdLst>
        </p14:section>
        <p14:section name="Results" id="{bc8f6c51-b21c-c61f-df47-7b0defdff9b9}">
          <p14:sldIdLst>
            <p14:sldId id="263"/>
            <p14:sldId id="264"/>
            <p14:sldId id="265"/>
            <p14:sldId id="266"/>
          </p14:sldIdLst>
        </p14:section>
        <p14:section name="Next" id="{b9a364df-9a81-d48b-f016-e460236ca115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 and the project name. Mention this is the progress presentation for the first two milestones. The background shows real Ravi Varma paintings from our dataset.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who Ravi Varma was and what the project aims to do. Keep it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Milestones 1 and 2 are done. 3 and 4 are for the second half of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the steps quickly from left to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dataset quality mattered more than size. Many images were duplicates or not real paintings.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example caption for the painting on the left. Mention the model sometimes makes small mistakes, like calling a sari a dress.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LoRA in one line: instead of training the whole model, we train small extra layers. Mention Colab and training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step 0 the images have frames and look like posters. Over training they start looking more like Ravi Varma paintings, with palace settings and softer painting style.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images in each pair use the same prompt and seed, the only difference is our LoRA.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honest: the CLIP numbers barely changed, but the images clearly did. Mention the problems we noticed.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about what went wrong and how it was fixed. Evaluators usually like hearing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next steps for the remaining part of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evaluators and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END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68580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08960"/>
            <a:ext cx="749808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The Next Ravi Varma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image" Target="../media/image-9-6.jp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bg1"/>
                </a:solidFill>
              </a:rPr>
              <a:t>The Next Ravi Varma</a:t>
            </a: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0896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Generating Ravi Varma style paintings using Stable Diffusion + LoRA</a:t>
            </a:r>
            <a:endParaRPr lang="en-US" sz="20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 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Progress Presentation (Milestones 1 and 2)</a:t>
            </a:r>
            <a:endParaRPr lang="en-US" sz="20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 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Shashwat Sahu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BITS Pilani, K K Birla Goa Campus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Introduction</a:t>
            </a:r>
            <a:endParaRPr lang="en-US" sz="3000" dirty="0"/>
          </a:p>
        </p:txBody>
      </p:sp>
      <p:sp>
        <p:nvSpPr>
          <p:cNvPr id="3" name="points"/>
          <p:cNvSpPr txBox="1"/>
          <p:nvPr/>
        </p:nvSpPr>
        <p:spPr>
          <a:xfrm>
            <a:off x="548640" y="1325880"/>
            <a:ext cx="6949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Raja Ravi Varma (1848-1906) was a famous Indian painter known for realistic oil paintings of Indian mythology and royal portraits.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Inspired by "The Next Rembrandt" project, which generated a new painting in Rembrandt's style.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We use Stable Diffusion 1.5 and fine-tune it with LoRA on Ravi Varma's paintings.</a:t>
            </a:r>
            <a:endParaRPr lang="en-US" sz="1700" dirty="0"/>
          </a:p>
        </p:txBody>
      </p:sp>
      <p:sp>
        <p:nvSpPr>
          <p:cNvPr id="4" name="goal-box"/>
          <p:cNvSpPr/>
          <p:nvPr/>
        </p:nvSpPr>
        <p:spPr>
          <a:xfrm>
            <a:off x="548640" y="4526280"/>
            <a:ext cx="6949440" cy="1325880"/>
          </a:xfrm>
          <a:prstGeom prst="roundRect">
            <a:avLst>
              <a:gd name="adj" fmla="val 6897"/>
            </a:avLst>
          </a:prstGeom>
          <a:solidFill>
            <a:schemeClr val="accent5"/>
          </a:solidFill>
          <a:ln/>
        </p:spPr>
      </p:sp>
      <p:sp>
        <p:nvSpPr>
          <p:cNvPr id="5" name="goal-text"/>
          <p:cNvSpPr txBox="1"/>
          <p:nvPr/>
        </p:nvSpPr>
        <p:spPr>
          <a:xfrm>
            <a:off x="777240" y="4617720"/>
            <a:ext cx="6492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Our goal: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give a text description of a scene and generate a new image in Ravi Varma's style.</a:t>
            </a:r>
            <a:endParaRPr lang="en-US" sz="1800" dirty="0"/>
          </a:p>
        </p:txBody>
      </p:sp>
      <p:pic>
        <p:nvPicPr>
          <p:cNvPr id="6" name="varma-painting" descr="/private/tmp/claude-501/-Users-shashwatsahu-Desktop-the-next-ravi-varma/b50e4b20-09e3-45d0-8877-560ccb85868c/scratchpad/deck/assets/caption_examp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188720"/>
            <a:ext cx="2743200" cy="4572000"/>
          </a:xfrm>
          <a:prstGeom prst="rect">
            <a:avLst/>
          </a:prstGeom>
          <a:effectLst>
            <a:outerShdw sx="100000" sy="100000" kx="0" ky="0" algn="bl" rotWithShape="0" blurRad="76200" dist="38100" dir="2700000">
              <a:srgbClr val="000000">
                <a:alpha val="28000"/>
              </a:srgbClr>
            </a:outerShdw>
          </a:effectLst>
        </p:spPr>
      </p:pic>
      <p:sp>
        <p:nvSpPr>
          <p:cNvPr id="7" name="caption"/>
          <p:cNvSpPr txBox="1"/>
          <p:nvPr/>
        </p:nvSpPr>
        <p:spPr>
          <a:xfrm>
            <a:off x="7772400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Hamsa Damayanti by Raja Ravi Varma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Project Milestones and Status</a:t>
            </a:r>
            <a:endParaRPr lang="en-US" sz="3000" dirty="0"/>
          </a:p>
        </p:txBody>
      </p:sp>
      <p:sp>
        <p:nvSpPr>
          <p:cNvPr id="3" name="ms-0"/>
          <p:cNvSpPr/>
          <p:nvPr/>
        </p:nvSpPr>
        <p:spPr>
          <a:xfrm>
            <a:off x="548640" y="1325880"/>
            <a:ext cx="7589520" cy="91440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/>
        </p:spPr>
      </p:sp>
      <p:sp>
        <p:nvSpPr>
          <p:cNvPr id="4" name="ms-n-0-circle"/>
          <p:cNvSpPr/>
          <p:nvPr/>
        </p:nvSpPr>
        <p:spPr>
          <a:xfrm>
            <a:off x="731520" y="1481328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ms-n-0-num"/>
          <p:cNvSpPr txBox="1"/>
          <p:nvPr/>
        </p:nvSpPr>
        <p:spPr>
          <a:xfrm>
            <a:off x="731520" y="1481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chemeClr val="bg1"/>
                </a:solidFill>
              </a:rPr>
              <a:t>1</a:t>
            </a:r>
            <a:endParaRPr lang="en-US" sz="1716" dirty="0"/>
          </a:p>
        </p:txBody>
      </p:sp>
      <p:sp>
        <p:nvSpPr>
          <p:cNvPr id="6" name="ms-t-0"/>
          <p:cNvSpPr txBox="1"/>
          <p:nvPr/>
        </p:nvSpPr>
        <p:spPr>
          <a:xfrm>
            <a:off x="1554480" y="132588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Dataset collection, cleaning and captioning</a:t>
            </a:r>
            <a:endParaRPr lang="en-US" sz="1800" dirty="0"/>
          </a:p>
        </p:txBody>
      </p:sp>
      <p:sp>
        <p:nvSpPr>
          <p:cNvPr id="7" name="ms-s-0"/>
          <p:cNvSpPr txBox="1"/>
          <p:nvPr/>
        </p:nvSpPr>
        <p:spPr>
          <a:xfrm>
            <a:off x="6309360" y="13258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Done</a:t>
            </a:r>
            <a:endParaRPr lang="en-US" sz="1700" dirty="0"/>
          </a:p>
        </p:txBody>
      </p:sp>
      <p:sp>
        <p:nvSpPr>
          <p:cNvPr id="8" name="ms-1"/>
          <p:cNvSpPr/>
          <p:nvPr/>
        </p:nvSpPr>
        <p:spPr>
          <a:xfrm>
            <a:off x="548640" y="2441448"/>
            <a:ext cx="7589520" cy="91440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/>
        </p:spPr>
      </p:sp>
      <p:sp>
        <p:nvSpPr>
          <p:cNvPr id="9" name="ms-n-1-circle"/>
          <p:cNvSpPr/>
          <p:nvPr/>
        </p:nvSpPr>
        <p:spPr>
          <a:xfrm>
            <a:off x="731520" y="2596896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ms-n-1-num"/>
          <p:cNvSpPr txBox="1"/>
          <p:nvPr/>
        </p:nvSpPr>
        <p:spPr>
          <a:xfrm>
            <a:off x="731520" y="259689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chemeClr val="bg1"/>
                </a:solidFill>
              </a:rPr>
              <a:t>2</a:t>
            </a:r>
            <a:endParaRPr lang="en-US" sz="1716" dirty="0"/>
          </a:p>
        </p:txBody>
      </p:sp>
      <p:sp>
        <p:nvSpPr>
          <p:cNvPr id="11" name="ms-t-1"/>
          <p:cNvSpPr txBox="1"/>
          <p:nvPr/>
        </p:nvSpPr>
        <p:spPr>
          <a:xfrm>
            <a:off x="1554480" y="244144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LoRA fine-tuning of Stable Diffusion</a:t>
            </a:r>
            <a:endParaRPr lang="en-US" sz="1800" dirty="0"/>
          </a:p>
        </p:txBody>
      </p:sp>
      <p:sp>
        <p:nvSpPr>
          <p:cNvPr id="12" name="ms-s-1"/>
          <p:cNvSpPr txBox="1"/>
          <p:nvPr/>
        </p:nvSpPr>
        <p:spPr>
          <a:xfrm>
            <a:off x="6309360" y="2441448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Done</a:t>
            </a:r>
            <a:endParaRPr lang="en-US" sz="1700" dirty="0"/>
          </a:p>
        </p:txBody>
      </p:sp>
      <p:sp>
        <p:nvSpPr>
          <p:cNvPr id="13" name="ms-2"/>
          <p:cNvSpPr/>
          <p:nvPr/>
        </p:nvSpPr>
        <p:spPr>
          <a:xfrm>
            <a:off x="548640" y="3557016"/>
            <a:ext cx="75895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4" name="ms-n-2-circle"/>
          <p:cNvSpPr/>
          <p:nvPr/>
        </p:nvSpPr>
        <p:spPr>
          <a:xfrm>
            <a:off x="731520" y="3712464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" name="ms-n-2-num"/>
          <p:cNvSpPr txBox="1"/>
          <p:nvPr/>
        </p:nvSpPr>
        <p:spPr>
          <a:xfrm>
            <a:off x="731520" y="371246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chemeClr val="bg1"/>
                </a:solidFill>
              </a:rPr>
              <a:t>3</a:t>
            </a:r>
            <a:endParaRPr lang="en-US" sz="1716" dirty="0"/>
          </a:p>
        </p:txBody>
      </p:sp>
      <p:sp>
        <p:nvSpPr>
          <p:cNvPr id="16" name="ms-t-2"/>
          <p:cNvSpPr txBox="1"/>
          <p:nvPr/>
        </p:nvSpPr>
        <p:spPr>
          <a:xfrm>
            <a:off x="1554480" y="3557016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Prompt expansion using an LLM</a:t>
            </a:r>
            <a:endParaRPr lang="en-US" sz="1800" dirty="0"/>
          </a:p>
        </p:txBody>
      </p:sp>
      <p:sp>
        <p:nvSpPr>
          <p:cNvPr id="17" name="ms-s-2"/>
          <p:cNvSpPr txBox="1"/>
          <p:nvPr/>
        </p:nvSpPr>
        <p:spPr>
          <a:xfrm>
            <a:off x="6309360" y="3557016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Not started</a:t>
            </a:r>
            <a:endParaRPr lang="en-US" sz="1700" dirty="0"/>
          </a:p>
        </p:txBody>
      </p:sp>
      <p:sp>
        <p:nvSpPr>
          <p:cNvPr id="18" name="ms-3"/>
          <p:cNvSpPr/>
          <p:nvPr/>
        </p:nvSpPr>
        <p:spPr>
          <a:xfrm>
            <a:off x="548640" y="4672584"/>
            <a:ext cx="75895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9" name="ms-n-3-circle"/>
          <p:cNvSpPr/>
          <p:nvPr/>
        </p:nvSpPr>
        <p:spPr>
          <a:xfrm>
            <a:off x="731520" y="4828032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ms-n-3-num"/>
          <p:cNvSpPr txBox="1"/>
          <p:nvPr/>
        </p:nvSpPr>
        <p:spPr>
          <a:xfrm>
            <a:off x="731520" y="48280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chemeClr val="bg1"/>
                </a:solidFill>
              </a:rPr>
              <a:t>4</a:t>
            </a:r>
            <a:endParaRPr lang="en-US" sz="1716" dirty="0"/>
          </a:p>
        </p:txBody>
      </p:sp>
      <p:sp>
        <p:nvSpPr>
          <p:cNvPr id="21" name="ms-t-3"/>
          <p:cNvSpPr txBox="1"/>
          <p:nvPr/>
        </p:nvSpPr>
        <p:spPr>
          <a:xfrm>
            <a:off x="1554480" y="4672584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ControlNet (pose control), evaluation, web UI</a:t>
            </a:r>
            <a:endParaRPr lang="en-US" sz="1800" dirty="0"/>
          </a:p>
        </p:txBody>
      </p:sp>
      <p:sp>
        <p:nvSpPr>
          <p:cNvPr id="22" name="ms-s-3"/>
          <p:cNvSpPr txBox="1"/>
          <p:nvPr/>
        </p:nvSpPr>
        <p:spPr>
          <a:xfrm>
            <a:off x="6309360" y="467258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Not started</a:t>
            </a:r>
            <a:endParaRPr lang="en-US" sz="1700" dirty="0"/>
          </a:p>
        </p:txBody>
      </p:sp>
      <p:sp>
        <p:nvSpPr>
          <p:cNvPr id="23" name="progress-circle"/>
          <p:cNvSpPr/>
          <p:nvPr/>
        </p:nvSpPr>
        <p:spPr>
          <a:xfrm>
            <a:off x="8915400" y="1737360"/>
            <a:ext cx="2377440" cy="2377440"/>
          </a:xfrm>
          <a:prstGeom prst="ellipse">
            <a:avLst/>
          </a:prstGeom>
          <a:solidFill>
            <a:schemeClr val="tx2"/>
          </a:solidFill>
          <a:ln w="50800">
            <a:solidFill>
              <a:schemeClr val="accent1"/>
            </a:solidFill>
            <a:prstDash val="solid"/>
          </a:ln>
        </p:spPr>
      </p:sp>
      <p:sp>
        <p:nvSpPr>
          <p:cNvPr id="24" name="progress-text"/>
          <p:cNvSpPr txBox="1"/>
          <p:nvPr/>
        </p:nvSpPr>
        <p:spPr>
          <a:xfrm>
            <a:off x="891540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44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done</a:t>
            </a:r>
            <a:endParaRPr lang="en-US" sz="4400" dirty="0"/>
          </a:p>
        </p:txBody>
      </p:sp>
      <p:sp>
        <p:nvSpPr>
          <p:cNvPr id="25" name="progress-note"/>
          <p:cNvSpPr txBox="1"/>
          <p:nvPr/>
        </p:nvSpPr>
        <p:spPr>
          <a:xfrm>
            <a:off x="850392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2 of 4 milestones completed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Overall Pipeline</a:t>
            </a:r>
            <a:endParaRPr lang="en-US" sz="3000" dirty="0"/>
          </a:p>
        </p:txBody>
      </p:sp>
      <p:sp>
        <p:nvSpPr>
          <p:cNvPr id="3" name="step-0"/>
          <p:cNvSpPr/>
          <p:nvPr/>
        </p:nvSpPr>
        <p:spPr>
          <a:xfrm>
            <a:off x="548640" y="1737360"/>
            <a:ext cx="1600200" cy="1600200"/>
          </a:xfrm>
          <a:prstGeom prst="roundRect">
            <a:avLst>
              <a:gd name="adj" fmla="val 5714"/>
            </a:avLst>
          </a:prstGeom>
          <a:solidFill>
            <a:schemeClr val="accent2"/>
          </a:solidFill>
          <a:ln/>
        </p:spPr>
      </p:sp>
      <p:sp>
        <p:nvSpPr>
          <p:cNvPr id="4" name="step-n-0-circle"/>
          <p:cNvSpPr/>
          <p:nvPr/>
        </p:nvSpPr>
        <p:spPr>
          <a:xfrm>
            <a:off x="1097280" y="14630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tep-n-0-num"/>
          <p:cNvSpPr txBox="1"/>
          <p:nvPr/>
        </p:nvSpPr>
        <p:spPr>
          <a:xfrm>
            <a:off x="10972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chemeClr val="bg1"/>
                </a:solidFill>
              </a:rPr>
              <a:t>1</a:t>
            </a:r>
            <a:endParaRPr lang="en-US" sz="1430" dirty="0"/>
          </a:p>
        </p:txBody>
      </p:sp>
      <p:sp>
        <p:nvSpPr>
          <p:cNvPr id="6" name="step-t-0"/>
          <p:cNvSpPr txBox="1"/>
          <p:nvPr/>
        </p:nvSpPr>
        <p:spPr>
          <a:xfrm>
            <a:off x="548640" y="20574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Download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paintings</a:t>
            </a:r>
            <a:endParaRPr lang="en-US" sz="1700" dirty="0"/>
          </a:p>
        </p:txBody>
      </p:sp>
      <p:sp>
        <p:nvSpPr>
          <p:cNvPr id="7" name="arrow-0"/>
          <p:cNvSpPr/>
          <p:nvPr/>
        </p:nvSpPr>
        <p:spPr>
          <a:xfrm>
            <a:off x="2194560" y="2395728"/>
            <a:ext cx="256032" cy="292608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8" name="step-1"/>
          <p:cNvSpPr/>
          <p:nvPr/>
        </p:nvSpPr>
        <p:spPr>
          <a:xfrm>
            <a:off x="2468880" y="1737360"/>
            <a:ext cx="1600200" cy="1600200"/>
          </a:xfrm>
          <a:prstGeom prst="roundRect">
            <a:avLst>
              <a:gd name="adj" fmla="val 5714"/>
            </a:avLst>
          </a:prstGeom>
          <a:solidFill>
            <a:schemeClr val="accent2"/>
          </a:solidFill>
          <a:ln/>
        </p:spPr>
      </p:sp>
      <p:sp>
        <p:nvSpPr>
          <p:cNvPr id="9" name="step-n-1-circle"/>
          <p:cNvSpPr/>
          <p:nvPr/>
        </p:nvSpPr>
        <p:spPr>
          <a:xfrm>
            <a:off x="3017520" y="14630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-n-1-num"/>
          <p:cNvSpPr txBox="1"/>
          <p:nvPr/>
        </p:nvSpPr>
        <p:spPr>
          <a:xfrm>
            <a:off x="30175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chemeClr val="bg1"/>
                </a:solidFill>
              </a:rPr>
              <a:t>2</a:t>
            </a:r>
            <a:endParaRPr lang="en-US" sz="1430" dirty="0"/>
          </a:p>
        </p:txBody>
      </p:sp>
      <p:sp>
        <p:nvSpPr>
          <p:cNvPr id="11" name="step-t-1"/>
          <p:cNvSpPr txBox="1"/>
          <p:nvPr/>
        </p:nvSpPr>
        <p:spPr>
          <a:xfrm>
            <a:off x="2468880" y="20574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Clean the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dataset</a:t>
            </a:r>
            <a:endParaRPr lang="en-US" sz="1700" dirty="0"/>
          </a:p>
        </p:txBody>
      </p:sp>
      <p:sp>
        <p:nvSpPr>
          <p:cNvPr id="12" name="arrow-1"/>
          <p:cNvSpPr/>
          <p:nvPr/>
        </p:nvSpPr>
        <p:spPr>
          <a:xfrm>
            <a:off x="4114800" y="2395728"/>
            <a:ext cx="256032" cy="292608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3" name="step-2"/>
          <p:cNvSpPr/>
          <p:nvPr/>
        </p:nvSpPr>
        <p:spPr>
          <a:xfrm>
            <a:off x="4389120" y="1737360"/>
            <a:ext cx="1600200" cy="1600200"/>
          </a:xfrm>
          <a:prstGeom prst="roundRect">
            <a:avLst>
              <a:gd name="adj" fmla="val 5714"/>
            </a:avLst>
          </a:prstGeom>
          <a:solidFill>
            <a:schemeClr val="accent2"/>
          </a:solidFill>
          <a:ln/>
        </p:spPr>
      </p:sp>
      <p:sp>
        <p:nvSpPr>
          <p:cNvPr id="14" name="step-n-2-circle"/>
          <p:cNvSpPr/>
          <p:nvPr/>
        </p:nvSpPr>
        <p:spPr>
          <a:xfrm>
            <a:off x="4937760" y="14630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step-n-2-num"/>
          <p:cNvSpPr txBox="1"/>
          <p:nvPr/>
        </p:nvSpPr>
        <p:spPr>
          <a:xfrm>
            <a:off x="49377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chemeClr val="bg1"/>
                </a:solidFill>
              </a:rPr>
              <a:t>3</a:t>
            </a:r>
            <a:endParaRPr lang="en-US" sz="1430" dirty="0"/>
          </a:p>
        </p:txBody>
      </p:sp>
      <p:sp>
        <p:nvSpPr>
          <p:cNvPr id="16" name="step-t-2"/>
          <p:cNvSpPr txBox="1"/>
          <p:nvPr/>
        </p:nvSpPr>
        <p:spPr>
          <a:xfrm>
            <a:off x="4389120" y="20574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Generate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captions</a:t>
            </a:r>
            <a:endParaRPr lang="en-US" sz="1700" dirty="0"/>
          </a:p>
        </p:txBody>
      </p:sp>
      <p:sp>
        <p:nvSpPr>
          <p:cNvPr id="17" name="arrow-2"/>
          <p:cNvSpPr/>
          <p:nvPr/>
        </p:nvSpPr>
        <p:spPr>
          <a:xfrm>
            <a:off x="6035040" y="2395728"/>
            <a:ext cx="256032" cy="292608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8" name="step-3"/>
          <p:cNvSpPr/>
          <p:nvPr/>
        </p:nvSpPr>
        <p:spPr>
          <a:xfrm>
            <a:off x="6309360" y="1737360"/>
            <a:ext cx="1600200" cy="1600200"/>
          </a:xfrm>
          <a:prstGeom prst="roundRect">
            <a:avLst>
              <a:gd name="adj" fmla="val 5714"/>
            </a:avLst>
          </a:prstGeom>
          <a:solidFill>
            <a:schemeClr val="accent2"/>
          </a:solidFill>
          <a:ln/>
        </p:spPr>
      </p:sp>
      <p:sp>
        <p:nvSpPr>
          <p:cNvPr id="19" name="step-n-3-circle"/>
          <p:cNvSpPr/>
          <p:nvPr/>
        </p:nvSpPr>
        <p:spPr>
          <a:xfrm>
            <a:off x="6858000" y="14630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step-n-3-num"/>
          <p:cNvSpPr txBox="1"/>
          <p:nvPr/>
        </p:nvSpPr>
        <p:spPr>
          <a:xfrm>
            <a:off x="68580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chemeClr val="bg1"/>
                </a:solidFill>
              </a:rPr>
              <a:t>4</a:t>
            </a:r>
            <a:endParaRPr lang="en-US" sz="1430" dirty="0"/>
          </a:p>
        </p:txBody>
      </p:sp>
      <p:sp>
        <p:nvSpPr>
          <p:cNvPr id="21" name="step-t-3"/>
          <p:cNvSpPr txBox="1"/>
          <p:nvPr/>
        </p:nvSpPr>
        <p:spPr>
          <a:xfrm>
            <a:off x="6309360" y="20574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Prepare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images</a:t>
            </a:r>
            <a:endParaRPr lang="en-US" sz="1700" dirty="0"/>
          </a:p>
        </p:txBody>
      </p:sp>
      <p:sp>
        <p:nvSpPr>
          <p:cNvPr id="22" name="arrow-3"/>
          <p:cNvSpPr/>
          <p:nvPr/>
        </p:nvSpPr>
        <p:spPr>
          <a:xfrm>
            <a:off x="7955280" y="2395728"/>
            <a:ext cx="256032" cy="292608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3" name="step-4"/>
          <p:cNvSpPr/>
          <p:nvPr/>
        </p:nvSpPr>
        <p:spPr>
          <a:xfrm>
            <a:off x="8229600" y="1737360"/>
            <a:ext cx="1600200" cy="16002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</p:sp>
      <p:sp>
        <p:nvSpPr>
          <p:cNvPr id="24" name="step-n-4-circle"/>
          <p:cNvSpPr/>
          <p:nvPr/>
        </p:nvSpPr>
        <p:spPr>
          <a:xfrm>
            <a:off x="8778240" y="14630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step-n-4-num"/>
          <p:cNvSpPr txBox="1"/>
          <p:nvPr/>
        </p:nvSpPr>
        <p:spPr>
          <a:xfrm>
            <a:off x="87782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chemeClr val="bg1"/>
                </a:solidFill>
              </a:rPr>
              <a:t>5</a:t>
            </a:r>
            <a:endParaRPr lang="en-US" sz="1430" dirty="0"/>
          </a:p>
        </p:txBody>
      </p:sp>
      <p:sp>
        <p:nvSpPr>
          <p:cNvPr id="26" name="step-t-4"/>
          <p:cNvSpPr txBox="1"/>
          <p:nvPr/>
        </p:nvSpPr>
        <p:spPr>
          <a:xfrm>
            <a:off x="8229600" y="20574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Train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LoRA</a:t>
            </a:r>
            <a:endParaRPr lang="en-US" sz="1700" dirty="0"/>
          </a:p>
        </p:txBody>
      </p:sp>
      <p:sp>
        <p:nvSpPr>
          <p:cNvPr id="27" name="arrow-4"/>
          <p:cNvSpPr/>
          <p:nvPr/>
        </p:nvSpPr>
        <p:spPr>
          <a:xfrm>
            <a:off x="9875520" y="2395728"/>
            <a:ext cx="256032" cy="292608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8" name="step-5"/>
          <p:cNvSpPr/>
          <p:nvPr/>
        </p:nvSpPr>
        <p:spPr>
          <a:xfrm>
            <a:off x="10149840" y="1737360"/>
            <a:ext cx="1600200" cy="16002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</p:sp>
      <p:sp>
        <p:nvSpPr>
          <p:cNvPr id="29" name="step-n-5-circle"/>
          <p:cNvSpPr/>
          <p:nvPr/>
        </p:nvSpPr>
        <p:spPr>
          <a:xfrm>
            <a:off x="10698480" y="14630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step-n-5-num"/>
          <p:cNvSpPr txBox="1"/>
          <p:nvPr/>
        </p:nvSpPr>
        <p:spPr>
          <a:xfrm>
            <a:off x="106984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chemeClr val="bg1"/>
                </a:solidFill>
              </a:rPr>
              <a:t>6</a:t>
            </a:r>
            <a:endParaRPr lang="en-US" sz="1430" dirty="0"/>
          </a:p>
        </p:txBody>
      </p:sp>
      <p:sp>
        <p:nvSpPr>
          <p:cNvPr id="31" name="step-t-5"/>
          <p:cNvSpPr txBox="1"/>
          <p:nvPr/>
        </p:nvSpPr>
        <p:spPr>
          <a:xfrm>
            <a:off x="10149840" y="20574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Generate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images</a:t>
            </a:r>
            <a:endParaRPr lang="en-US" sz="1700" dirty="0"/>
          </a:p>
        </p:txBody>
      </p:sp>
      <p:sp>
        <p:nvSpPr>
          <p:cNvPr id="32" name="m1-label"/>
          <p:cNvSpPr txBox="1"/>
          <p:nvPr/>
        </p:nvSpPr>
        <p:spPr>
          <a:xfrm>
            <a:off x="548640" y="3474720"/>
            <a:ext cx="7360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Milestone 1</a:t>
            </a:r>
            <a:endParaRPr lang="en-US" sz="1500" dirty="0"/>
          </a:p>
        </p:txBody>
      </p:sp>
      <p:sp>
        <p:nvSpPr>
          <p:cNvPr id="33" name="m2-label"/>
          <p:cNvSpPr txBox="1"/>
          <p:nvPr/>
        </p:nvSpPr>
        <p:spPr>
          <a:xfrm>
            <a:off x="8229600" y="3474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Milestone 2</a:t>
            </a:r>
            <a:endParaRPr lang="en-US" sz="1500" dirty="0"/>
          </a:p>
        </p:txBody>
      </p:sp>
      <p:sp>
        <p:nvSpPr>
          <p:cNvPr id="34" name="pipeline-notes"/>
          <p:cNvSpPr/>
          <p:nvPr/>
        </p:nvSpPr>
        <p:spPr>
          <a:xfrm>
            <a:off x="548640" y="4206240"/>
            <a:ext cx="1106424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35" name="points"/>
          <p:cNvSpPr txBox="1"/>
          <p:nvPr/>
        </p:nvSpPr>
        <p:spPr>
          <a:xfrm>
            <a:off x="822960" y="4407408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Steps 1-4 run on my laptop (MacBook), training runs on Google Colab (T4 GPU).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Everything is controlled by config files and scripts, so the results can be reproduced.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Milestone 1: Dataset</a:t>
            </a:r>
            <a:endParaRPr lang="en-US" sz="3000" dirty="0"/>
          </a:p>
        </p:txBody>
      </p:sp>
      <p:sp>
        <p:nvSpPr>
          <p:cNvPr id="3" name="t1"/>
          <p:cNvSpPr/>
          <p:nvPr/>
        </p:nvSpPr>
        <p:spPr>
          <a:xfrm>
            <a:off x="548640" y="1280160"/>
            <a:ext cx="17830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" name="t1-big"/>
          <p:cNvSpPr txBox="1"/>
          <p:nvPr/>
        </p:nvSpPr>
        <p:spPr>
          <a:xfrm>
            <a:off x="548640" y="1389888"/>
            <a:ext cx="178308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3400" dirty="0"/>
          </a:p>
        </p:txBody>
      </p:sp>
      <p:sp>
        <p:nvSpPr>
          <p:cNvPr id="5" name="t1-small"/>
          <p:cNvSpPr txBox="1"/>
          <p:nvPr/>
        </p:nvSpPr>
        <p:spPr>
          <a:xfrm>
            <a:off x="640080" y="210312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downloaded</a:t>
            </a:r>
            <a:endParaRPr lang="en-US" sz="1300" dirty="0"/>
          </a:p>
        </p:txBody>
      </p:sp>
      <p:sp>
        <p:nvSpPr>
          <p:cNvPr id="6" name="t-arrow-1"/>
          <p:cNvSpPr/>
          <p:nvPr/>
        </p:nvSpPr>
        <p:spPr>
          <a:xfrm>
            <a:off x="2395728" y="1828800"/>
            <a:ext cx="27432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7" name="t2"/>
          <p:cNvSpPr/>
          <p:nvPr/>
        </p:nvSpPr>
        <p:spPr>
          <a:xfrm>
            <a:off x="2743200" y="1280160"/>
            <a:ext cx="17830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8" name="t2-big"/>
          <p:cNvSpPr txBox="1"/>
          <p:nvPr/>
        </p:nvSpPr>
        <p:spPr>
          <a:xfrm>
            <a:off x="2743200" y="1389888"/>
            <a:ext cx="178308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134</a:t>
            </a:r>
            <a:endParaRPr lang="en-US" sz="3400" dirty="0"/>
          </a:p>
        </p:txBody>
      </p:sp>
      <p:sp>
        <p:nvSpPr>
          <p:cNvPr id="9" name="t2-small"/>
          <p:cNvSpPr txBox="1"/>
          <p:nvPr/>
        </p:nvSpPr>
        <p:spPr>
          <a:xfrm>
            <a:off x="2834640" y="210312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after cleaning</a:t>
            </a:r>
            <a:endParaRPr lang="en-US" sz="1300" dirty="0"/>
          </a:p>
        </p:txBody>
      </p:sp>
      <p:sp>
        <p:nvSpPr>
          <p:cNvPr id="10" name="t-arrow-2"/>
          <p:cNvSpPr/>
          <p:nvPr/>
        </p:nvSpPr>
        <p:spPr>
          <a:xfrm>
            <a:off x="4590288" y="1828800"/>
            <a:ext cx="27432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1" name="t3"/>
          <p:cNvSpPr/>
          <p:nvPr/>
        </p:nvSpPr>
        <p:spPr>
          <a:xfrm>
            <a:off x="4937760" y="1280160"/>
            <a:ext cx="1463040" cy="1371600"/>
          </a:xfrm>
          <a:prstGeom prst="roundRect">
            <a:avLst>
              <a:gd name="adj" fmla="val 6667"/>
            </a:avLst>
          </a:prstGeom>
          <a:solidFill>
            <a:schemeClr val="accent6"/>
          </a:solidFill>
          <a:ln/>
        </p:spPr>
      </p:sp>
      <p:sp>
        <p:nvSpPr>
          <p:cNvPr id="12" name="t3-big"/>
          <p:cNvSpPr txBox="1"/>
          <p:nvPr/>
        </p:nvSpPr>
        <p:spPr>
          <a:xfrm>
            <a:off x="4937760" y="1389888"/>
            <a:ext cx="14630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122</a:t>
            </a:r>
            <a:endParaRPr lang="en-US" sz="3400" dirty="0"/>
          </a:p>
        </p:txBody>
      </p:sp>
      <p:sp>
        <p:nvSpPr>
          <p:cNvPr id="13" name="t3-small"/>
          <p:cNvSpPr txBox="1"/>
          <p:nvPr/>
        </p:nvSpPr>
        <p:spPr>
          <a:xfrm>
            <a:off x="5029200" y="2103120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training</a:t>
            </a:r>
            <a:endParaRPr lang="en-US" sz="1300" dirty="0"/>
          </a:p>
        </p:txBody>
      </p:sp>
      <p:sp>
        <p:nvSpPr>
          <p:cNvPr id="14" name="points"/>
          <p:cNvSpPr txBox="1"/>
          <p:nvPr/>
        </p:nvSpPr>
        <p:spPr>
          <a:xfrm>
            <a:off x="548640" y="2971800"/>
            <a:ext cx="5852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Downloaded from Wikimedia Commons (most are public domain).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Removed 26 low-resolution, 33 duplicate and 7 non-painting images.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12 images kept aside for testing.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Images resized without cutting off heads/feet.</a:t>
            </a:r>
            <a:endParaRPr lang="en-US" sz="1600" dirty="0"/>
          </a:p>
        </p:txBody>
      </p:sp>
      <p:pic>
        <p:nvPicPr>
          <p:cNvPr id="15" name="dataset-images" descr="/private/tmp/claude-501/-Users-shashwatsahu-Desktop-the-next-ravi-varma/b50e4b20-09e3-45d0-8877-560ccb85868c/scratchpad/deck/assets/mosa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280160"/>
            <a:ext cx="4846320" cy="2542032"/>
          </a:xfrm>
          <a:prstGeom prst="rect">
            <a:avLst/>
          </a:prstGeom>
          <a:effectLst>
            <a:outerShdw sx="100000" sy="100000" kx="0" ky="0" algn="bl" rotWithShape="0" blurRad="76200" dist="38100" dir="2700000">
              <a:srgbClr val="000000">
                <a:alpha val="28000"/>
              </a:srgbClr>
            </a:outerShdw>
          </a:effectLst>
        </p:spPr>
      </p:pic>
      <p:sp>
        <p:nvSpPr>
          <p:cNvPr id="16" name="caption"/>
          <p:cNvSpPr txBox="1"/>
          <p:nvPr/>
        </p:nvSpPr>
        <p:spPr>
          <a:xfrm>
            <a:off x="6766560" y="3886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Some training images</a:t>
            </a:r>
            <a:endParaRPr lang="en-US" sz="1200" dirty="0"/>
          </a:p>
        </p:txBody>
      </p:sp>
      <p:pic>
        <p:nvPicPr>
          <p:cNvPr id="17" name="removed-images" descr="/private/tmp/claude-501/-Users-shashwatsahu-Desktop-the-next-ravi-varma/b50e4b20-09e3-45d0-8877-560ccb85868c/scratchpad/deck/assets/exclud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4343400"/>
            <a:ext cx="4846320" cy="1453896"/>
          </a:xfrm>
          <a:prstGeom prst="rect">
            <a:avLst/>
          </a:prstGeom>
          <a:effectLst>
            <a:outerShdw sx="100000" sy="100000" kx="0" ky="0" algn="bl" rotWithShape="0" blurRad="76200" dist="38100" dir="2700000">
              <a:srgbClr val="000000">
                <a:alpha val="28000"/>
              </a:srgbClr>
            </a:outerShdw>
          </a:effectLst>
        </p:spPr>
      </p:pic>
      <p:sp>
        <p:nvSpPr>
          <p:cNvPr id="18" name="caption"/>
          <p:cNvSpPr txBox="1"/>
          <p:nvPr/>
        </p:nvSpPr>
        <p:spPr>
          <a:xfrm>
            <a:off x="6766560" y="58704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Examples of removed images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Milestone 1: Image Captioning</a:t>
            </a:r>
            <a:endParaRPr lang="en-US" sz="3000" dirty="0"/>
          </a:p>
        </p:txBody>
      </p:sp>
      <p:pic>
        <p:nvPicPr>
          <p:cNvPr id="3" name="caption-image" descr="/private/tmp/claude-501/-Users-shashwatsahu-Desktop-the-next-ravi-varma/b50e4b20-09e3-45d0-8877-560ccb85868c/scratchpad/deck/assets/caption_examp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15768" cy="4526280"/>
          </a:xfrm>
          <a:prstGeom prst="rect">
            <a:avLst/>
          </a:prstGeom>
          <a:effectLst>
            <a:outerShdw sx="100000" sy="100000" kx="0" ky="0" algn="bl" rotWithShape="0" blurRad="76200" dist="38100" dir="2700000">
              <a:srgbClr val="000000">
                <a:alpha val="28000"/>
              </a:srgbClr>
            </a:outerShdw>
          </a:effectLst>
        </p:spPr>
      </p:pic>
      <p:sp>
        <p:nvSpPr>
          <p:cNvPr id="4" name="points"/>
          <p:cNvSpPr txBox="1"/>
          <p:nvPr/>
        </p:nvSpPr>
        <p:spPr>
          <a:xfrm>
            <a:off x="3657600" y="1280160"/>
            <a:ext cx="7955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Each image needs a text caption for training.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Used BLIP (an image captioning model) to describe the image and BLIP-VQA to answer fixed questions (clothing, jewellery, pose, setting, etc.).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Wrong answers like "phone" were filtered out.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Every caption starts with a trigger word &lt;rvvarma&gt; so the model links it to the style.</a:t>
            </a:r>
            <a:endParaRPr lang="en-US" sz="1700" dirty="0"/>
          </a:p>
        </p:txBody>
      </p:sp>
      <p:sp>
        <p:nvSpPr>
          <p:cNvPr id="5" name="example-box"/>
          <p:cNvSpPr/>
          <p:nvPr/>
        </p:nvSpPr>
        <p:spPr>
          <a:xfrm>
            <a:off x="3657600" y="4572000"/>
            <a:ext cx="7955280" cy="1234440"/>
          </a:xfrm>
          <a:prstGeom prst="roundRect">
            <a:avLst>
              <a:gd name="adj" fmla="val 7407"/>
            </a:avLst>
          </a:prstGeom>
          <a:solidFill>
            <a:schemeClr val="accent5"/>
          </a:solidFill>
          <a:ln/>
        </p:spPr>
      </p:sp>
      <p:sp>
        <p:nvSpPr>
          <p:cNvPr id="6" name="example-caption"/>
          <p:cNvSpPr txBox="1"/>
          <p:nvPr/>
        </p:nvSpPr>
        <p:spPr>
          <a:xfrm>
            <a:off x="3886200" y="4645152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Example caption
</a:t>
            </a:r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&lt;rvvarma&gt;, Hamsa Damayanti, a woman in a red sari feeding a white swan, wearing red dress, necklace jewelry, sitting, calm expression ...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Milestone 2: LoRA Training</a:t>
            </a:r>
            <a:endParaRPr lang="en-US" sz="3000" dirty="0"/>
          </a:p>
        </p:txBody>
      </p:sp>
      <p:sp>
        <p:nvSpPr>
          <p:cNvPr id="3" name="train-0"/>
          <p:cNvSpPr/>
          <p:nvPr/>
        </p:nvSpPr>
        <p:spPr>
          <a:xfrm>
            <a:off x="548640" y="1280160"/>
            <a:ext cx="1874520" cy="1463040"/>
          </a:xfrm>
          <a:prstGeom prst="roundRect">
            <a:avLst>
              <a:gd name="adj" fmla="val 6250"/>
            </a:avLst>
          </a:prstGeom>
          <a:solidFill>
            <a:schemeClr val="accent5"/>
          </a:solidFill>
          <a:ln/>
        </p:spPr>
      </p:sp>
      <p:sp>
        <p:nvSpPr>
          <p:cNvPr id="4" name="train-0-big"/>
          <p:cNvSpPr txBox="1"/>
          <p:nvPr/>
        </p:nvSpPr>
        <p:spPr>
          <a:xfrm>
            <a:off x="548640" y="1389888"/>
            <a:ext cx="1874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3.2M</a:t>
            </a:r>
            <a:endParaRPr lang="en-US" sz="3400" dirty="0"/>
          </a:p>
        </p:txBody>
      </p:sp>
      <p:sp>
        <p:nvSpPr>
          <p:cNvPr id="5" name="train-0-small"/>
          <p:cNvSpPr txBox="1"/>
          <p:nvPr/>
        </p:nvSpPr>
        <p:spPr>
          <a:xfrm>
            <a:off x="640080" y="2157984"/>
            <a:ext cx="16916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parameters trained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(0.37% of the model)</a:t>
            </a:r>
            <a:endParaRPr lang="en-US" sz="1300" dirty="0"/>
          </a:p>
        </p:txBody>
      </p:sp>
      <p:sp>
        <p:nvSpPr>
          <p:cNvPr id="6" name="train-1"/>
          <p:cNvSpPr/>
          <p:nvPr/>
        </p:nvSpPr>
        <p:spPr>
          <a:xfrm>
            <a:off x="2606040" y="1280160"/>
            <a:ext cx="1874520" cy="1463040"/>
          </a:xfrm>
          <a:prstGeom prst="roundRect">
            <a:avLst>
              <a:gd name="adj" fmla="val 6250"/>
            </a:avLst>
          </a:prstGeom>
          <a:solidFill>
            <a:schemeClr val="accent5"/>
          </a:solidFill>
          <a:ln/>
        </p:spPr>
      </p:sp>
      <p:sp>
        <p:nvSpPr>
          <p:cNvPr id="7" name="train-1-big"/>
          <p:cNvSpPr txBox="1"/>
          <p:nvPr/>
        </p:nvSpPr>
        <p:spPr>
          <a:xfrm>
            <a:off x="2606040" y="1389888"/>
            <a:ext cx="1874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 hr</a:t>
            </a:r>
            <a:endParaRPr lang="en-US" sz="3400" dirty="0"/>
          </a:p>
        </p:txBody>
      </p:sp>
      <p:sp>
        <p:nvSpPr>
          <p:cNvPr id="8" name="train-1-small"/>
          <p:cNvSpPr txBox="1"/>
          <p:nvPr/>
        </p:nvSpPr>
        <p:spPr>
          <a:xfrm>
            <a:off x="2697480" y="2157984"/>
            <a:ext cx="16916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 Google Colab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(T4 GPU)</a:t>
            </a:r>
            <a:endParaRPr lang="en-US" sz="1300" dirty="0"/>
          </a:p>
        </p:txBody>
      </p:sp>
      <p:sp>
        <p:nvSpPr>
          <p:cNvPr id="9" name="train-2"/>
          <p:cNvSpPr/>
          <p:nvPr/>
        </p:nvSpPr>
        <p:spPr>
          <a:xfrm>
            <a:off x="4663440" y="1280160"/>
            <a:ext cx="1874520" cy="1463040"/>
          </a:xfrm>
          <a:prstGeom prst="roundRect">
            <a:avLst>
              <a:gd name="adj" fmla="val 6250"/>
            </a:avLst>
          </a:prstGeom>
          <a:solidFill>
            <a:schemeClr val="accent5"/>
          </a:solidFill>
          <a:ln/>
        </p:spPr>
      </p:sp>
      <p:sp>
        <p:nvSpPr>
          <p:cNvPr id="10" name="train-2-big"/>
          <p:cNvSpPr txBox="1"/>
          <p:nvPr/>
        </p:nvSpPr>
        <p:spPr>
          <a:xfrm>
            <a:off x="4663440" y="1389888"/>
            <a:ext cx="1874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1500</a:t>
            </a:r>
            <a:endParaRPr lang="en-US" sz="3400" dirty="0"/>
          </a:p>
        </p:txBody>
      </p:sp>
      <p:sp>
        <p:nvSpPr>
          <p:cNvPr id="11" name="train-2-small"/>
          <p:cNvSpPr txBox="1"/>
          <p:nvPr/>
        </p:nvSpPr>
        <p:spPr>
          <a:xfrm>
            <a:off x="4754880" y="2157984"/>
            <a:ext cx="16916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training steps</a:t>
            </a:r>
            <a:endParaRPr lang="en-US" sz="1300" dirty="0"/>
          </a:p>
        </p:txBody>
      </p:sp>
      <p:sp>
        <p:nvSpPr>
          <p:cNvPr id="12" name="points"/>
          <p:cNvSpPr txBox="1"/>
          <p:nvPr/>
        </p:nvSpPr>
        <p:spPr>
          <a:xfrm>
            <a:off x="548640" y="310896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LoRA trains only a small number of extra weights; the original Stable Diffusion model is not changed.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Saved a checkpoint every 250 steps and generated test images to track progress.</a:t>
            </a:r>
            <a:endParaRPr lang="en-US" sz="1700" dirty="0"/>
          </a:p>
        </p:txBody>
      </p:sp>
      <p:graphicFrame>
        <p:nvGraphicFramePr>
          <p:cNvPr id="8" name="setting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280160"/>
          <a:ext cx="4663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Parameter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Value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Base model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Stable Diffusion 1.5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LoRA rank / alpha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16 / 16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Learning rate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0.0001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Batch size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 (gradient accumulation 4)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Training steps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1500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Precision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fp16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the Output Changed During Training</a:t>
            </a:r>
            <a:endParaRPr lang="en-US" sz="3000" dirty="0"/>
          </a:p>
        </p:txBody>
      </p:sp>
      <p:pic>
        <p:nvPicPr>
          <p:cNvPr id="3" name="progression" descr="/private/tmp/claude-501/-Users-shashwatsahu-Desktop-the-next-ravi-varma/b50e4b20-09e3-45d0-8877-560ccb85868c/scratchpad/deck/assets/progress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88720"/>
            <a:ext cx="10515600" cy="4672584"/>
          </a:xfrm>
          <a:prstGeom prst="rect">
            <a:avLst/>
          </a:prstGeom>
          <a:effectLst>
            <a:outerShdw sx="100000" sy="100000" kx="0" ky="0" algn="bl" rotWithShape="0" blurRad="76200" dist="38100" dir="2700000">
              <a:srgbClr val="000000">
                <a:alpha val="28000"/>
              </a:srgbClr>
            </a:outerShdw>
          </a:effectLst>
        </p:spPr>
      </p:pic>
      <p:sp>
        <p:nvSpPr>
          <p:cNvPr id="4" name="caption"/>
          <p:cNvSpPr txBox="1"/>
          <p:nvPr/>
        </p:nvSpPr>
        <p:spPr>
          <a:xfrm>
            <a:off x="82296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Same prompts and seeds, from step 0 (no training) to step 1500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Results: Without vs With Our LoRA</a:t>
            </a:r>
            <a:endParaRPr lang="en-US" sz="3000" dirty="0"/>
          </a:p>
        </p:txBody>
      </p:sp>
      <p:sp>
        <p:nvSpPr>
          <p:cNvPr id="3" name="palace-panel"/>
          <p:cNvSpPr/>
          <p:nvPr/>
        </p:nvSpPr>
        <p:spPr>
          <a:xfrm>
            <a:off x="457200" y="1143000"/>
            <a:ext cx="3749040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</p:sp>
      <p:pic>
        <p:nvPicPr>
          <p:cNvPr id="4" name="palace-base" descr="/private/tmp/claude-501/-Users-shashwatsahu-Desktop-the-next-ravi-varma/b50e4b20-09e3-45d0-8877-560ccb85868c/scratchpad/deck/assets/palace_ba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737360" cy="2478024"/>
          </a:xfrm>
          <a:prstGeom prst="rect">
            <a:avLst/>
          </a:prstGeom>
          <a:effectLst>
            <a:outerShdw sx="100000" sy="100000" kx="0" ky="0" algn="bl" rotWithShape="0" blurRad="76200" dist="38100" dir="2700000">
              <a:srgbClr val="000000">
                <a:alpha val="28000"/>
              </a:srgbClr>
            </a:outerShdw>
          </a:effectLst>
        </p:spPr>
      </p:pic>
      <p:pic>
        <p:nvPicPr>
          <p:cNvPr id="5" name="palace-lora" descr="/private/tmp/claude-501/-Users-shashwatsahu-Desktop-the-next-ravi-varma/b50e4b20-09e3-45d0-8877-560ccb85868c/scratchpad/deck/assets/palace_lo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600200"/>
            <a:ext cx="1737360" cy="2478024"/>
          </a:xfrm>
          <a:prstGeom prst="rect">
            <a:avLst/>
          </a:prstGeom>
          <a:effectLst>
            <a:outerShdw sx="100000" sy="100000" kx="0" ky="0" algn="bl" rotWithShape="0" blurRad="76200" dist="38100" dir="2700000">
              <a:srgbClr val="000000">
                <a:alpha val="28000"/>
              </a:srgbClr>
            </a:outerShdw>
          </a:effectLst>
        </p:spPr>
      </p:pic>
      <p:sp>
        <p:nvSpPr>
          <p:cNvPr id="6" name="palace-l1"/>
          <p:cNvSpPr txBox="1"/>
          <p:nvPr/>
        </p:nvSpPr>
        <p:spPr>
          <a:xfrm>
            <a:off x="548640" y="12344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Without</a:t>
            </a:r>
            <a:endParaRPr lang="en-US" sz="1300" dirty="0"/>
          </a:p>
        </p:txBody>
      </p:sp>
      <p:sp>
        <p:nvSpPr>
          <p:cNvPr id="7" name="palace-l2"/>
          <p:cNvSpPr txBox="1"/>
          <p:nvPr/>
        </p:nvSpPr>
        <p:spPr>
          <a:xfrm>
            <a:off x="2377440" y="12344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With LoRA</a:t>
            </a:r>
            <a:endParaRPr lang="en-US" sz="1300" dirty="0"/>
          </a:p>
        </p:txBody>
      </p:sp>
      <p:sp>
        <p:nvSpPr>
          <p:cNvPr id="8" name="caption"/>
          <p:cNvSpPr txBox="1"/>
          <p:nvPr/>
        </p:nvSpPr>
        <p:spPr>
          <a:xfrm>
            <a:off x="548640" y="4206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Royal woman in a palace</a:t>
            </a:r>
            <a:endParaRPr lang="en-US" sz="1200" dirty="0"/>
          </a:p>
        </p:txBody>
      </p:sp>
      <p:sp>
        <p:nvSpPr>
          <p:cNvPr id="9" name="portrait-panel"/>
          <p:cNvSpPr/>
          <p:nvPr/>
        </p:nvSpPr>
        <p:spPr>
          <a:xfrm>
            <a:off x="4251960" y="1143000"/>
            <a:ext cx="3749040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</p:sp>
      <p:pic>
        <p:nvPicPr>
          <p:cNvPr id="10" name="portrait-base" descr="/private/tmp/claude-501/-Users-shashwatsahu-Desktop-the-next-ravi-varma/b50e4b20-09e3-45d0-8877-560ccb85868c/scratchpad/deck/assets/portrait_bas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00200"/>
            <a:ext cx="1737360" cy="2478024"/>
          </a:xfrm>
          <a:prstGeom prst="rect">
            <a:avLst/>
          </a:prstGeom>
          <a:effectLst>
            <a:outerShdw sx="100000" sy="100000" kx="0" ky="0" algn="bl" rotWithShape="0" blurRad="76200" dist="38100" dir="2700000">
              <a:srgbClr val="000000">
                <a:alpha val="28000"/>
              </a:srgbClr>
            </a:outerShdw>
          </a:effectLst>
        </p:spPr>
      </p:pic>
      <p:pic>
        <p:nvPicPr>
          <p:cNvPr id="11" name="portrait-lora" descr="/private/tmp/claude-501/-Users-shashwatsahu-Desktop-the-next-ravi-varma/b50e4b20-09e3-45d0-8877-560ccb85868c/scratchpad/deck/assets/portrait_lora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600200"/>
            <a:ext cx="1737360" cy="2478024"/>
          </a:xfrm>
          <a:prstGeom prst="rect">
            <a:avLst/>
          </a:prstGeom>
          <a:effectLst>
            <a:outerShdw sx="100000" sy="100000" kx="0" ky="0" algn="bl" rotWithShape="0" blurRad="76200" dist="38100" dir="2700000">
              <a:srgbClr val="000000">
                <a:alpha val="28000"/>
              </a:srgbClr>
            </a:outerShdw>
          </a:effectLst>
        </p:spPr>
      </p:pic>
      <p:sp>
        <p:nvSpPr>
          <p:cNvPr id="12" name="portrait-l1"/>
          <p:cNvSpPr txBox="1"/>
          <p:nvPr/>
        </p:nvSpPr>
        <p:spPr>
          <a:xfrm>
            <a:off x="4343400" y="12344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Without</a:t>
            </a:r>
            <a:endParaRPr lang="en-US" sz="1300" dirty="0"/>
          </a:p>
        </p:txBody>
      </p:sp>
      <p:sp>
        <p:nvSpPr>
          <p:cNvPr id="13" name="portrait-l2"/>
          <p:cNvSpPr txBox="1"/>
          <p:nvPr/>
        </p:nvSpPr>
        <p:spPr>
          <a:xfrm>
            <a:off x="6172200" y="12344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With LoRA</a:t>
            </a:r>
            <a:endParaRPr lang="en-US" sz="1300" dirty="0"/>
          </a:p>
        </p:txBody>
      </p:sp>
      <p:sp>
        <p:nvSpPr>
          <p:cNvPr id="14" name="caption"/>
          <p:cNvSpPr txBox="1"/>
          <p:nvPr/>
        </p:nvSpPr>
        <p:spPr>
          <a:xfrm>
            <a:off x="4343400" y="4206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Royal portrait</a:t>
            </a:r>
            <a:endParaRPr lang="en-US" sz="1200" dirty="0"/>
          </a:p>
        </p:txBody>
      </p:sp>
      <p:sp>
        <p:nvSpPr>
          <p:cNvPr id="15" name="window-panel"/>
          <p:cNvSpPr/>
          <p:nvPr/>
        </p:nvSpPr>
        <p:spPr>
          <a:xfrm>
            <a:off x="8046720" y="1143000"/>
            <a:ext cx="3749040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</p:sp>
      <p:pic>
        <p:nvPicPr>
          <p:cNvPr id="16" name="window-base" descr="/private/tmp/claude-501/-Users-shashwatsahu-Desktop-the-next-ravi-varma/b50e4b20-09e3-45d0-8877-560ccb85868c/scratchpad/deck/assets/window_bas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600200"/>
            <a:ext cx="1737360" cy="2478024"/>
          </a:xfrm>
          <a:prstGeom prst="rect">
            <a:avLst/>
          </a:prstGeom>
          <a:effectLst>
            <a:outerShdw sx="100000" sy="100000" kx="0" ky="0" algn="bl" rotWithShape="0" blurRad="76200" dist="38100" dir="2700000">
              <a:srgbClr val="000000">
                <a:alpha val="28000"/>
              </a:srgbClr>
            </a:outerShdw>
          </a:effectLst>
        </p:spPr>
      </p:pic>
      <p:pic>
        <p:nvPicPr>
          <p:cNvPr id="17" name="window-lora" descr="/private/tmp/claude-501/-Users-shashwatsahu-Desktop-the-next-ravi-varma/b50e4b20-09e3-45d0-8877-560ccb85868c/scratchpad/deck/assets/window_lora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6960" y="1600200"/>
            <a:ext cx="1737360" cy="2478024"/>
          </a:xfrm>
          <a:prstGeom prst="rect">
            <a:avLst/>
          </a:prstGeom>
          <a:effectLst>
            <a:outerShdw sx="100000" sy="100000" kx="0" ky="0" algn="bl" rotWithShape="0" blurRad="76200" dist="38100" dir="2700000">
              <a:srgbClr val="000000">
                <a:alpha val="28000"/>
              </a:srgbClr>
            </a:outerShdw>
          </a:effectLst>
        </p:spPr>
      </p:pic>
      <p:sp>
        <p:nvSpPr>
          <p:cNvPr id="18" name="window-l1"/>
          <p:cNvSpPr txBox="1"/>
          <p:nvPr/>
        </p:nvSpPr>
        <p:spPr>
          <a:xfrm>
            <a:off x="8138160" y="12344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Without</a:t>
            </a:r>
            <a:endParaRPr lang="en-US" sz="1300" dirty="0"/>
          </a:p>
        </p:txBody>
      </p:sp>
      <p:sp>
        <p:nvSpPr>
          <p:cNvPr id="19" name="window-l2"/>
          <p:cNvSpPr txBox="1"/>
          <p:nvPr/>
        </p:nvSpPr>
        <p:spPr>
          <a:xfrm>
            <a:off x="9966960" y="12344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With LoRA</a:t>
            </a:r>
            <a:endParaRPr lang="en-US" sz="1300" dirty="0"/>
          </a:p>
        </p:txBody>
      </p:sp>
      <p:sp>
        <p:nvSpPr>
          <p:cNvPr id="20" name="caption"/>
          <p:cNvSpPr txBox="1"/>
          <p:nvPr/>
        </p:nvSpPr>
        <p:spPr>
          <a:xfrm>
            <a:off x="8138160" y="4206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Woman beside a window</a:t>
            </a:r>
            <a:endParaRPr lang="en-US" sz="1200" dirty="0"/>
          </a:p>
        </p:txBody>
      </p:sp>
      <p:sp>
        <p:nvSpPr>
          <p:cNvPr id="21" name="points"/>
          <p:cNvSpPr txBox="1"/>
          <p:nvPr/>
        </p:nvSpPr>
        <p:spPr>
          <a:xfrm>
            <a:off x="548640" y="484632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With LoRA the images look more like Ravi Varma's style: full-figure poses, pillars, carpets, darker painted backgrounds.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base model added picture frames in 5 of 15 images; our model added none.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Evaluation and Problems</a:t>
            </a:r>
            <a:endParaRPr lang="en-US" sz="3000" dirty="0"/>
          </a:p>
        </p:txBody>
      </p:sp>
      <p:pic>
        <p:nvPicPr>
          <p:cNvPr id="3" name="metrics-chart" descr="/private/tmp/claude-501/-Users-shashwatsahu-Desktop-the-next-ravi-varma/b50e4b20-09e3-45d0-8877-560ccb85868c/scratchpad/deck/assets/metrics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760720" cy="4005072"/>
          </a:xfrm>
          <a:prstGeom prst="rect">
            <a:avLst/>
          </a:prstGeom>
          <a:effectLst>
            <a:outerShdw sx="100000" sy="100000" kx="0" ky="0" algn="bl" rotWithShape="0" blurRad="76200" dist="38100" dir="2700000">
              <a:srgbClr val="000000">
                <a:alpha val="28000"/>
              </a:srgbClr>
            </a:outerShdw>
          </a:effectLst>
        </p:spPr>
      </p:pic>
      <p:sp>
        <p:nvSpPr>
          <p:cNvPr id="4" name="caption"/>
          <p:cNvSpPr txBox="1"/>
          <p:nvPr/>
        </p:nvSpPr>
        <p:spPr>
          <a:xfrm>
            <a:off x="548640" y="53492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CLIP scores for 15 image pairs</a:t>
            </a:r>
            <a:endParaRPr lang="en-US" sz="1200" dirty="0"/>
          </a:p>
        </p:txBody>
      </p:sp>
      <p:sp>
        <p:nvSpPr>
          <p:cNvPr id="5" name="found-box"/>
          <p:cNvSpPr/>
          <p:nvPr/>
        </p:nvSpPr>
        <p:spPr>
          <a:xfrm>
            <a:off x="6675120" y="1234440"/>
            <a:ext cx="4937760" cy="2148840"/>
          </a:xfrm>
          <a:prstGeom prst="roundRect">
            <a:avLst>
              <a:gd name="adj" fmla="val 4255"/>
            </a:avLst>
          </a:prstGeom>
          <a:solidFill>
            <a:schemeClr val="accent6"/>
          </a:solidFill>
          <a:ln/>
        </p:spPr>
      </p:sp>
      <p:sp>
        <p:nvSpPr>
          <p:cNvPr id="6" name="found-head"/>
          <p:cNvSpPr txBox="1"/>
          <p:nvPr/>
        </p:nvSpPr>
        <p:spPr>
          <a:xfrm>
            <a:off x="6903720" y="1325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What we found</a:t>
            </a:r>
            <a:endParaRPr lang="en-US" sz="1900" dirty="0"/>
          </a:p>
        </p:txBody>
      </p:sp>
      <p:sp>
        <p:nvSpPr>
          <p:cNvPr id="7" name="points"/>
          <p:cNvSpPr txBox="1"/>
          <p:nvPr/>
        </p:nvSpPr>
        <p:spPr>
          <a:xfrm>
            <a:off x="6903720" y="178308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CLIP style score increased only slightly (0.669 to 0.681), even though the images look clearly different.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image was a copy of a training image.</a:t>
            </a:r>
            <a:endParaRPr lang="en-US" sz="1500" dirty="0"/>
          </a:p>
        </p:txBody>
      </p:sp>
      <p:sp>
        <p:nvSpPr>
          <p:cNvPr id="8" name="problems-box"/>
          <p:cNvSpPr/>
          <p:nvPr/>
        </p:nvSpPr>
        <p:spPr>
          <a:xfrm>
            <a:off x="6675120" y="3566160"/>
            <a:ext cx="4937760" cy="2148840"/>
          </a:xfrm>
          <a:prstGeom prst="roundRect">
            <a:avLst>
              <a:gd name="adj" fmla="val 4255"/>
            </a:avLst>
          </a:prstGeom>
          <a:solidFill>
            <a:srgbClr val="F6E6E6"/>
          </a:solidFill>
          <a:ln/>
        </p:spPr>
      </p:sp>
      <p:sp>
        <p:nvSpPr>
          <p:cNvPr id="9" name="problems-head"/>
          <p:cNvSpPr txBox="1"/>
          <p:nvPr/>
        </p:nvSpPr>
        <p:spPr>
          <a:xfrm>
            <a:off x="6903720" y="36576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Problems</a:t>
            </a:r>
            <a:endParaRPr lang="en-US" sz="1900" dirty="0"/>
          </a:p>
        </p:txBody>
      </p:sp>
      <p:sp>
        <p:nvSpPr>
          <p:cNvPr id="10" name="points"/>
          <p:cNvSpPr txBox="1"/>
          <p:nvPr/>
        </p:nvSpPr>
        <p:spPr>
          <a:xfrm>
            <a:off x="6903720" y="411480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Some women's faces get a dark shadow above the lip.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Small signature-like marks appear in the corners.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Group scenes still look like posters.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Challenges Faced</a:t>
            </a:r>
            <a:endParaRPr lang="en-US" sz="3000" dirty="0"/>
          </a:p>
        </p:txBody>
      </p:sp>
      <p:sp>
        <p:nvSpPr>
          <p:cNvPr id="3" name="ch-0"/>
          <p:cNvSpPr/>
          <p:nvPr/>
        </p:nvSpPr>
        <p:spPr>
          <a:xfrm>
            <a:off x="548640" y="1234440"/>
            <a:ext cx="11064240" cy="822960"/>
          </a:xfrm>
          <a:prstGeom prst="roundRect">
            <a:avLst>
              <a:gd name="adj" fmla="val 11111"/>
            </a:avLst>
          </a:prstGeom>
          <a:solidFill>
            <a:schemeClr val="accent5"/>
          </a:solidFill>
          <a:ln/>
        </p:spPr>
      </p:sp>
      <p:sp>
        <p:nvSpPr>
          <p:cNvPr id="4" name="ch-c-0"/>
          <p:cNvSpPr/>
          <p:nvPr/>
        </p:nvSpPr>
        <p:spPr>
          <a:xfrm>
            <a:off x="731520" y="1353312"/>
            <a:ext cx="585216" cy="58521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ch-i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499616"/>
            <a:ext cx="292608" cy="292608"/>
          </a:xfrm>
          <a:prstGeom prst="rect">
            <a:avLst/>
          </a:prstGeom>
        </p:spPr>
      </p:pic>
      <p:sp>
        <p:nvSpPr>
          <p:cNvPr id="6" name="ch-t-0"/>
          <p:cNvSpPr txBox="1"/>
          <p:nvPr/>
        </p:nvSpPr>
        <p:spPr>
          <a:xfrm>
            <a:off x="1554480" y="123444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Many images in the dataset were duplicates or had been upscaled, so we had to check every image.</a:t>
            </a:r>
            <a:endParaRPr lang="en-US" sz="1700" dirty="0"/>
          </a:p>
        </p:txBody>
      </p:sp>
      <p:sp>
        <p:nvSpPr>
          <p:cNvPr id="7" name="ch-1"/>
          <p:cNvSpPr/>
          <p:nvPr/>
        </p:nvSpPr>
        <p:spPr>
          <a:xfrm>
            <a:off x="548640" y="2221992"/>
            <a:ext cx="1106424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8" name="ch-c-1"/>
          <p:cNvSpPr/>
          <p:nvPr/>
        </p:nvSpPr>
        <p:spPr>
          <a:xfrm>
            <a:off x="731520" y="2340864"/>
            <a:ext cx="585216" cy="58521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9" name="ch-i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2487168"/>
            <a:ext cx="292608" cy="292608"/>
          </a:xfrm>
          <a:prstGeom prst="rect">
            <a:avLst/>
          </a:prstGeom>
        </p:spPr>
      </p:pic>
      <p:sp>
        <p:nvSpPr>
          <p:cNvPr id="10" name="ch-t-1"/>
          <p:cNvSpPr txBox="1"/>
          <p:nvPr/>
        </p:nvSpPr>
        <p:spPr>
          <a:xfrm>
            <a:off x="1554480" y="222199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The original Stable Diffusion 1.5 model was removed from Hugging Face, so we switched to the official mirror.</a:t>
            </a:r>
            <a:endParaRPr lang="en-US" sz="1700" dirty="0"/>
          </a:p>
        </p:txBody>
      </p:sp>
      <p:sp>
        <p:nvSpPr>
          <p:cNvPr id="11" name="ch-2"/>
          <p:cNvSpPr/>
          <p:nvPr/>
        </p:nvSpPr>
        <p:spPr>
          <a:xfrm>
            <a:off x="548640" y="3209544"/>
            <a:ext cx="11064240" cy="822960"/>
          </a:xfrm>
          <a:prstGeom prst="roundRect">
            <a:avLst>
              <a:gd name="adj" fmla="val 11111"/>
            </a:avLst>
          </a:prstGeom>
          <a:solidFill>
            <a:schemeClr val="accent5"/>
          </a:solidFill>
          <a:ln/>
        </p:spPr>
      </p:sp>
      <p:sp>
        <p:nvSpPr>
          <p:cNvPr id="12" name="ch-c-2"/>
          <p:cNvSpPr/>
          <p:nvPr/>
        </p:nvSpPr>
        <p:spPr>
          <a:xfrm>
            <a:off x="731520" y="3328416"/>
            <a:ext cx="585216" cy="58521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3" name="ch-i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3474720"/>
            <a:ext cx="292608" cy="292608"/>
          </a:xfrm>
          <a:prstGeom prst="rect">
            <a:avLst/>
          </a:prstGeom>
        </p:spPr>
      </p:pic>
      <p:sp>
        <p:nvSpPr>
          <p:cNvPr id="14" name="ch-t-2"/>
          <p:cNvSpPr txBox="1"/>
          <p:nvPr/>
        </p:nvSpPr>
        <p:spPr>
          <a:xfrm>
            <a:off x="1554480" y="3209544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Version conflicts on Google Colab (xformers, bitsandbytes) broke training at first.</a:t>
            </a:r>
            <a:endParaRPr lang="en-US" sz="1700" dirty="0"/>
          </a:p>
        </p:txBody>
      </p:sp>
      <p:sp>
        <p:nvSpPr>
          <p:cNvPr id="15" name="ch-3"/>
          <p:cNvSpPr/>
          <p:nvPr/>
        </p:nvSpPr>
        <p:spPr>
          <a:xfrm>
            <a:off x="548640" y="4197096"/>
            <a:ext cx="1106424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6" name="ch-c-3"/>
          <p:cNvSpPr/>
          <p:nvPr/>
        </p:nvSpPr>
        <p:spPr>
          <a:xfrm>
            <a:off x="731520" y="4315968"/>
            <a:ext cx="585216" cy="58521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ch-i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462272"/>
            <a:ext cx="292608" cy="292608"/>
          </a:xfrm>
          <a:prstGeom prst="rect">
            <a:avLst/>
          </a:prstGeom>
        </p:spPr>
      </p:pic>
      <p:sp>
        <p:nvSpPr>
          <p:cNvPr id="18" name="ch-t-3"/>
          <p:cNvSpPr txBox="1"/>
          <p:nvPr/>
        </p:nvSpPr>
        <p:spPr>
          <a:xfrm>
            <a:off x="1554480" y="41970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On the Mac, images came out completely black because of an fp16 issue; fixed by changing a setting.</a:t>
            </a:r>
            <a:endParaRPr lang="en-US" sz="1700" dirty="0"/>
          </a:p>
        </p:txBody>
      </p:sp>
      <p:sp>
        <p:nvSpPr>
          <p:cNvPr id="19" name="ch-4"/>
          <p:cNvSpPr/>
          <p:nvPr/>
        </p:nvSpPr>
        <p:spPr>
          <a:xfrm>
            <a:off x="548640" y="5184648"/>
            <a:ext cx="11064240" cy="822960"/>
          </a:xfrm>
          <a:prstGeom prst="roundRect">
            <a:avLst>
              <a:gd name="adj" fmla="val 11111"/>
            </a:avLst>
          </a:prstGeom>
          <a:solidFill>
            <a:schemeClr val="accent5"/>
          </a:solidFill>
          <a:ln/>
        </p:spPr>
      </p:sp>
      <p:sp>
        <p:nvSpPr>
          <p:cNvPr id="20" name="ch-c-4"/>
          <p:cNvSpPr/>
          <p:nvPr/>
        </p:nvSpPr>
        <p:spPr>
          <a:xfrm>
            <a:off x="731520" y="5303520"/>
            <a:ext cx="585216" cy="58521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ch-i-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5449824"/>
            <a:ext cx="292608" cy="292608"/>
          </a:xfrm>
          <a:prstGeom prst="rect">
            <a:avLst/>
          </a:prstGeom>
        </p:spPr>
      </p:pic>
      <p:sp>
        <p:nvSpPr>
          <p:cNvPr id="22" name="ch-t-4"/>
          <p:cNvSpPr txBox="1"/>
          <p:nvPr/>
        </p:nvSpPr>
        <p:spPr>
          <a:xfrm>
            <a:off x="1554480" y="518464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Free Colab has limited GPU time, so we added checkpoints to resume training if it disconnects.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Future Work</a:t>
            </a:r>
            <a:endParaRPr lang="en-US" sz="3000" dirty="0"/>
          </a:p>
        </p:txBody>
      </p:sp>
      <p:sp>
        <p:nvSpPr>
          <p:cNvPr id="3" name="fw-0-circle"/>
          <p:cNvSpPr/>
          <p:nvPr/>
        </p:nvSpPr>
        <p:spPr>
          <a:xfrm>
            <a:off x="548640" y="138988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fw-0-num"/>
          <p:cNvSpPr txBox="1"/>
          <p:nvPr/>
        </p:nvSpPr>
        <p:spPr>
          <a:xfrm>
            <a:off x="548640" y="1389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1</a:t>
            </a:r>
            <a:endParaRPr lang="en-US" sz="1560" dirty="0"/>
          </a:p>
        </p:txBody>
      </p:sp>
      <p:sp>
        <p:nvSpPr>
          <p:cNvPr id="5" name="fw-t-0"/>
          <p:cNvSpPr txBox="1"/>
          <p:nvPr/>
        </p:nvSpPr>
        <p:spPr>
          <a:xfrm>
            <a:off x="1325880" y="128016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Fix the face shadow and signature problems by improving the captions.</a:t>
            </a:r>
            <a:endParaRPr lang="en-US" sz="1700" dirty="0"/>
          </a:p>
        </p:txBody>
      </p:sp>
      <p:sp>
        <p:nvSpPr>
          <p:cNvPr id="6" name="fw-1-circle"/>
          <p:cNvSpPr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fw-1-num"/>
          <p:cNvSpPr txBox="1"/>
          <p:nvPr/>
        </p:nvSpPr>
        <p:spPr>
          <a:xfrm>
            <a:off x="548640" y="2578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2</a:t>
            </a:r>
            <a:endParaRPr lang="en-US" sz="1560" dirty="0"/>
          </a:p>
        </p:txBody>
      </p:sp>
      <p:sp>
        <p:nvSpPr>
          <p:cNvPr id="8" name="fw-t-1"/>
          <p:cNvSpPr txBox="1"/>
          <p:nvPr/>
        </p:nvSpPr>
        <p:spPr>
          <a:xfrm>
            <a:off x="1325880" y="246888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Milestone 3: use an LLM to turn a story description into a detailed prompt (e.g. "Krishna and Arjuna at Kurukshetra").</a:t>
            </a:r>
            <a:endParaRPr lang="en-US" sz="1700" dirty="0"/>
          </a:p>
        </p:txBody>
      </p:sp>
      <p:sp>
        <p:nvSpPr>
          <p:cNvPr id="9" name="fw-2-circle"/>
          <p:cNvSpPr/>
          <p:nvPr/>
        </p:nvSpPr>
        <p:spPr>
          <a:xfrm>
            <a:off x="548640" y="376732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fw-2-num"/>
          <p:cNvSpPr txBox="1"/>
          <p:nvPr/>
        </p:nvSpPr>
        <p:spPr>
          <a:xfrm>
            <a:off x="548640" y="37673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3</a:t>
            </a:r>
            <a:endParaRPr lang="en-US" sz="1560" dirty="0"/>
          </a:p>
        </p:txBody>
      </p:sp>
      <p:sp>
        <p:nvSpPr>
          <p:cNvPr id="11" name="fw-t-2"/>
          <p:cNvSpPr txBox="1"/>
          <p:nvPr/>
        </p:nvSpPr>
        <p:spPr>
          <a:xfrm>
            <a:off x="1325880" y="365760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Milestone 4: add ControlNet so the user can control the pose of the people.</a:t>
            </a:r>
            <a:endParaRPr lang="en-US" sz="1700" dirty="0"/>
          </a:p>
        </p:txBody>
      </p:sp>
      <p:sp>
        <p:nvSpPr>
          <p:cNvPr id="12" name="fw-3-circle"/>
          <p:cNvSpPr/>
          <p:nvPr/>
        </p:nvSpPr>
        <p:spPr>
          <a:xfrm>
            <a:off x="548640" y="495604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fw-3-num"/>
          <p:cNvSpPr txBox="1"/>
          <p:nvPr/>
        </p:nvSpPr>
        <p:spPr>
          <a:xfrm>
            <a:off x="548640" y="4956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4</a:t>
            </a:r>
            <a:endParaRPr lang="en-US" sz="1560" dirty="0"/>
          </a:p>
        </p:txBody>
      </p:sp>
      <p:sp>
        <p:nvSpPr>
          <p:cNvPr id="14" name="fw-t-3"/>
          <p:cNvSpPr txBox="1"/>
          <p:nvPr/>
        </p:nvSpPr>
        <p:spPr>
          <a:xfrm>
            <a:off x="1325880" y="484632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Build a simple web interface (Gradio) and do a better evaluation, including human ratings.</a:t>
            </a:r>
            <a:endParaRPr lang="en-US" sz="1700" dirty="0"/>
          </a:p>
        </p:txBody>
      </p:sp>
      <p:pic>
        <p:nvPicPr>
          <p:cNvPr id="15" name="krishna-image" descr="/private/tmp/claude-501/-Users-shashwatsahu-Desktop-the-next-ravi-varma/b50e4b20-09e3-45d0-8877-560ccb85868c/scratchpad/deck/assets/krishna_lo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463040"/>
            <a:ext cx="3657600" cy="2560320"/>
          </a:xfrm>
          <a:prstGeom prst="rect">
            <a:avLst/>
          </a:prstGeom>
          <a:effectLst>
            <a:outerShdw sx="100000" sy="100000" kx="0" ky="0" algn="bl" rotWithShape="0" blurRad="76200" dist="38100" dir="2700000">
              <a:srgbClr val="000000">
                <a:alpha val="28000"/>
              </a:srgbClr>
            </a:outerShdw>
          </a:effectLst>
        </p:spPr>
      </p:pic>
      <p:sp>
        <p:nvSpPr>
          <p:cNvPr id="16" name="caption"/>
          <p:cNvSpPr txBox="1"/>
          <p:nvPr/>
        </p:nvSpPr>
        <p:spPr>
          <a:xfrm>
            <a:off x="7726680" y="4160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Current output for a Krishna and Arjuna prompt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Thank You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Questions?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Code and results: github.com/f20240684-cmd/the-next-ravi-varma-v2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arma Maroon">
  <a:themeElements>
    <a:clrScheme name="Varma Maroon">
      <a:dk1>
        <a:srgbClr val="262220"/>
      </a:dk1>
      <a:lt1>
        <a:srgbClr val="FFFFFF"/>
      </a:lt1>
      <a:dk2>
        <a:srgbClr val="6E1B1B"/>
      </a:dk2>
      <a:lt2>
        <a:srgbClr val="F4EFEA"/>
      </a:lt2>
      <a:accent1>
        <a:srgbClr val="B8862B"/>
      </a:accent1>
      <a:accent2>
        <a:srgbClr val="2E6B5E"/>
      </a:accent2>
      <a:accent3>
        <a:srgbClr val="8C2F2F"/>
      </a:accent3>
      <a:accent4>
        <a:srgbClr val="6B6560"/>
      </a:accent4>
      <a:accent5>
        <a:srgbClr val="F3E3C3"/>
      </a:accent5>
      <a:accent6>
        <a:srgbClr val="E3EFEC"/>
      </a:accent6>
      <a:hlink>
        <a:srgbClr val="2E6B5E"/>
      </a:hlink>
      <a:folHlink>
        <a:srgbClr val="6E1B1B"/>
      </a:folHlink>
    </a:clrScheme>
    <a:fontScheme name="Varma Maro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Next Ravi Varma - Progress Presentation</dc:title>
  <dc:subject>PptxGenJS Presentation</dc:subject>
  <dc:creator>Shashwat Sahu</dc:creator>
  <cp:lastModifiedBy>Shashwat Sahu</cp:lastModifiedBy>
  <cp:revision>1</cp:revision>
  <dcterms:created xsi:type="dcterms:W3CDTF">2026-10-03T10:04:41Z</dcterms:created>
  <dcterms:modified xsi:type="dcterms:W3CDTF">2026-10-03T10:04:41Z</dcterms:modified>
</cp:coreProperties>
</file>