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f107648-044e-040a-1c69-f9a9307527a3}">
          <p14:sldIdLst>
            <p14:sldId id="256"/>
            <p14:sldId id="257"/>
          </p14:sldIdLst>
        </p14:section>
        <p14:section name="Progress" id="{7536ee7a-d4d3-6321-41de-b59feebcc9b4}">
          <p14:sldIdLst>
            <p14:sldId id="258"/>
            <p14:sldId id="259"/>
          </p14:sldIdLst>
        </p14:section>
        <p14:section name="Milestone 1" id="{d3cff07b-3ceb-d974-c877-44b38d003c61}">
          <p14:sldIdLst>
            <p14:sldId id="260"/>
            <p14:sldId id="261"/>
          </p14:sldIdLst>
        </p14:section>
        <p14:section name="Milestone 2" id="{f1c5c4a4-7fb5-bd12-402b-86428dea27ab}">
          <p14:sldIdLst>
            <p14:sldId id="262"/>
            <p14:sldId id="263"/>
          </p14:sldIdLst>
        </p14:section>
        <p14:section name="Results" id="{621a69b1-a89e-622b-2bd9-2d683be0148b}">
          <p14:sldIdLst>
            <p14:sldId id="264"/>
            <p14:sldId id="265"/>
            <p14:sldId id="266"/>
          </p14:sldIdLst>
        </p14:section>
        <p14:section name="Next steps" id="{ed56a9db-26c6-92c0-91bd-07167ecf07d3}">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adapting the 'Next Rembrandt' idea to Raja Ravi Varma using a modern diffusion model plus parameter-efficient fine-tuning. The image on the right was generated by the model we trained this milestone. Today: what is done (dataset + LoRA training), the real results, honest problems, and what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question. Ravi Varma's style is a specific blend: academic oil technique, soft modelling of skin and drapery, theatrical staging, Indian subjects. We use LoRA so we never retrain the whole 860M-parameter UNet: only 3.2M parameters learn the style, attached to a trigger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Milestones 1 and 2 are complete and verified end to end - dataset, captions, training on a GPU, generation and evaluation. Milestones 3 and 4 are not started; some early prototype code exists but I am not counting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Green stages are Milestone 1, red are Milestone 2. Everything is driven by YAML configs and scripts, so another person can reproduce it; the README lists the exact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over quantity. Of 200 downloads only 134 are distinct, real, high-enough-resolution paintings. Key finding: 26 local files had been upscaled to just pass the 384 px minimum - I fetched the true original sizes from Wikimedia to catch that. 12 accepted paintings are held out and never trained on, so evaluation is fair. Images keep their aspect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 earlier run had trained on placeholder captions like 'unknown (no VLM available)'. Now every caption is grounded in model answers to fixed questions. The VQA model still makes small mistakes - here 'red dress' for a sari and 'park' for a palace garden - which is why every answer is stored and can be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configuration is the one from the plan, unchanged except it now actually behaves as specified. The smoke test paid off: it caught a GPU library incompatibility in the first minute instead of after an hour. Total training time was 58 minutes on a free-tier 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step 0 is the base model behaviour - framed, flat, folk-art. By step 250 the rendering becomes painted oil; the lake scene turns into a soft dusk landscape. After step 1000 the compositions become Varma-like: full-figure seated royal woman with red curtains, Krishna and Arjuna in a pillared court. The training loss stays flat (~0.17-0.18), which is normal for diffusion; these images are the real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uses the identical prompt and random seed - the only difference is the LoRA. Point at the palace pair: the base model gives a glossy bridal close-up; the LoRA gives a full-length figure staged with pillars and props like Varma's portraits. The portrait prompt becomes a maharaja-style commission. And none of the 15 LoRA images has a frame, while a third of the base images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image is the strongest single result: dark green background, soft side light, seated pose, detailed sari - close to Varma's portraits of women. But I want to be clear about the defects: an upper-lip shadow on some women, small signature-like marks in corners because many training prints carry signatures, and group scenes still look like posters. These are the first things to fix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want to over-claim, so the metrics are reported as they are. On paper the change is small. Looking at the images, the change is clear but not in the dimensions CLIP measures well. This is exactly why Milestone 4 plans a stronger evaluation; the human rating sheet is already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Immediate next step is fixing the two artifacts, which is a data/caption fix rather than a model change. Then the remaining milestones: the text-to-prompt scene parser and pose control with ControlNet, ending in the web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claims: a clean dataset, a working style model with visible effect, and an honest evaluation. Everything is public in the repository.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520440"/>
            <a:ext cx="10698480" cy="1097280"/>
          </a:xfrm>
          <a:prstGeom prst="rect">
            <a:avLst/>
          </a:prstGeom>
          <a:noFill/>
          <a:ln/>
        </p:spPr>
        <p:txBody>
          <a:bodyPr wrap="square" rtlCol="0"/>
          <a:lstStyle>
            <a:lvl1pPr algn="l" indent="0" marL="0">
              <a:buNone/>
              <a:defRPr lang="en-US" sz="2200" dirty="0">
                <a:solidFill>
                  <a:schemeClr val="accent5"/>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The Next Ravi Varma  |  Milestone 2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The Next Ravi Varma</a:t>
            </a:r>
            <a:endParaRPr lang="en-US" sz="4800" dirty="0"/>
          </a:p>
        </p:txBody>
      </p:sp>
      <p:sp>
        <p:nvSpPr>
          <p:cNvPr id="3" name="Text 0"/>
          <p:cNvSpPr/>
          <p:nvPr>
            <p:ph idx="101" type="body" hasCustomPrompt="1"/>
          </p:nvPr>
        </p:nvSpPr>
        <p:spPr>
          <a:xfrm>
            <a:off x="731520" y="3520440"/>
            <a:ext cx="10698480" cy="1097280"/>
          </a:xfrm>
          <a:prstGeom prst="rect">
            <a:avLst/>
          </a:prstGeom>
          <a:noFill/>
          <a:ln/>
        </p:spPr>
        <p:txBody>
          <a:bodyPr wrap="square" lIns="0" tIns="0" rIns="0" bIns="0" rtlCol="0" anchor="t"/>
          <a:lstStyle/>
          <a:p>
            <a:pPr algn="l" indent="0" marL="0">
              <a:buNone/>
            </a:pPr>
            <a:r>
              <a:rPr lang="en-US" sz="2200" dirty="0">
                <a:solidFill>
                  <a:schemeClr val="accent5"/>
                </a:solidFill>
              </a:rPr>
              <a:t>Ravi Varma-inspired image generation with Stable Diffusion 1.5 + LoRA</a:t>
            </a:r>
            <a:endParaRPr lang="en-US" sz="2200" dirty="0"/>
          </a:p>
          <a:p>
            <a:pPr algn="l" indent="0" marL="0">
              <a:buNone/>
            </a:pPr>
            <a:r>
              <a:rPr lang="en-US" sz="2200" dirty="0">
                <a:solidFill>
                  <a:schemeClr val="accent5"/>
                </a:solidFill>
              </a:rPr>
              <a:t>Milestone review: Milestones 1-2 complete (~50% of the proposal)</a:t>
            </a:r>
            <a:endParaRPr lang="en-US" sz="2200" dirty="0"/>
          </a:p>
        </p:txBody>
      </p:sp>
      <p:sp>
        <p:nvSpPr>
          <p:cNvPr id="4" name="presenter"/>
          <p:cNvSpPr txBox="1"/>
          <p:nvPr/>
        </p:nvSpPr>
        <p:spPr>
          <a:xfrm>
            <a:off x="731520" y="5852160"/>
            <a:ext cx="7315200" cy="365760"/>
          </a:xfrm>
          <a:prstGeom prst="rect">
            <a:avLst/>
          </a:prstGeom>
          <a:noFill/>
          <a:ln/>
        </p:spPr>
        <p:txBody>
          <a:bodyPr wrap="square" lIns="0" tIns="0" rIns="0" bIns="0" rtlCol="0" anchor="ctr"/>
          <a:lstStyle/>
          <a:p>
            <a:pPr indent="0" marL="0">
              <a:buNone/>
            </a:pPr>
            <a:r>
              <a:rPr lang="en-US" sz="1400" dirty="0">
                <a:solidFill>
                  <a:schemeClr val="bg2"/>
                </a:solidFill>
              </a:rPr>
              <a:t>Shashwat Sahu  |  BITS Pilani, K K Birla Goa Campus  |  October 2026</a:t>
            </a:r>
            <a:endParaRPr lang="en-US" sz="1400" dirty="0"/>
          </a:p>
        </p:txBody>
      </p:sp>
      <p:pic>
        <p:nvPicPr>
          <p:cNvPr id="5" name="hero-image" descr="/private/tmp/claude-501/-Users-shashwatsahu-Desktop-the-next-ravi-varma/b50e4b20-09e3-45d0-8877-560ccb85868c/scratchpad/deck/assets/local_check.jpg">    </p:cNvPr>
          <p:cNvPicPr>
            <a:picLocks noChangeAspect="1"/>
          </p:cNvPicPr>
          <p:nvPr/>
        </p:nvPicPr>
        <p:blipFill>
          <a:blip r:embed="rId1"/>
          <a:stretch>
            <a:fillRect/>
          </a:stretch>
        </p:blipFill>
        <p:spPr>
          <a:xfrm>
            <a:off x="9464040" y="548640"/>
            <a:ext cx="2148840" cy="3072384"/>
          </a:xfrm>
          <a:prstGeom prst="rect">
            <a:avLst/>
          </a:prstGeom>
        </p:spPr>
      </p:pic>
      <p:sp>
        <p:nvSpPr>
          <p:cNvPr id="6" name="hero-caption"/>
          <p:cNvSpPr txBox="1"/>
          <p:nvPr/>
        </p:nvSpPr>
        <p:spPr>
          <a:xfrm>
            <a:off x="9464040" y="3657600"/>
            <a:ext cx="2148840" cy="274320"/>
          </a:xfrm>
          <a:prstGeom prst="rect">
            <a:avLst/>
          </a:prstGeom>
          <a:noFill/>
          <a:ln/>
        </p:spPr>
        <p:txBody>
          <a:bodyPr wrap="square" lIns="0" tIns="0" rIns="0" bIns="0" rtlCol="0" anchor="ctr"/>
          <a:lstStyle/>
          <a:p>
            <a:pPr algn="ctr" indent="0" marL="0">
              <a:buNone/>
            </a:pPr>
            <a:r>
              <a:rPr lang="en-US" sz="1000" i="1" dirty="0">
                <a:solidFill>
                  <a:schemeClr val="accent5"/>
                </a:solidFill>
              </a:rPr>
              <a:t>Generated by our v2 LoRA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MOTIVATION</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Can a diffusion model learn Ravi Varma's visual language?</a:t>
            </a:r>
            <a:endParaRPr lang="en-US" sz="3200" dirty="0"/>
          </a:p>
        </p:txBody>
      </p:sp>
      <p:sp>
        <p:nvSpPr>
          <p:cNvPr id="4" name="bullets"/>
          <p:cNvSpPr txBox="1"/>
          <p:nvPr/>
        </p:nvSpPr>
        <p:spPr>
          <a:xfrm>
            <a:off x="548640" y="1371600"/>
            <a:ext cx="6675120" cy="438912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Raja Ravi Varma (1848-1906): </a:t>
            </a:r>
            <a:pPr indent="0" marL="0">
              <a:buNone/>
            </a:pPr>
            <a:r>
              <a:rPr lang="en-US" sz="1600" dirty="0">
                <a:solidFill>
                  <a:schemeClr val="tx1"/>
                </a:solidFill>
              </a:rPr>
              <a:t>fused European academic oil realism with Indian epics, attire and iconography.</a:t>
            </a:r>
            <a:endParaRPr lang="en-US" sz="1600" dirty="0"/>
          </a:p>
          <a:p>
            <a:pPr marL="342900" indent="-342900">
              <a:spcAft>
                <a:spcPts val="800"/>
              </a:spcAft>
              <a:buSzPct val="100000"/>
              <a:buChar char="•"/>
            </a:pPr>
            <a:r>
              <a:rPr lang="en-US" sz="1600" b="1" dirty="0">
                <a:solidFill>
                  <a:schemeClr val="tx1"/>
                </a:solidFill>
              </a:rPr>
              <a:t>Inspiration: </a:t>
            </a:r>
            <a:pPr indent="0" marL="0">
              <a:buNone/>
            </a:pPr>
            <a:r>
              <a:rPr lang="en-US" sz="1600" dirty="0">
                <a:solidFill>
                  <a:schemeClr val="tx1"/>
                </a:solidFill>
              </a:rPr>
              <a:t>The Next Rembrandt (2016) - learn a painter's style from his corpus and create new works.</a:t>
            </a:r>
            <a:endParaRPr lang="en-US" sz="1600" dirty="0"/>
          </a:p>
          <a:p>
            <a:pPr marL="342900" indent="-342900">
              <a:spcAft>
                <a:spcPts val="800"/>
              </a:spcAft>
              <a:buSzPct val="100000"/>
              <a:buChar char="•"/>
            </a:pPr>
            <a:r>
              <a:rPr lang="en-US" sz="1600" b="1" dirty="0">
                <a:solidFill>
                  <a:schemeClr val="tx1"/>
                </a:solidFill>
              </a:rPr>
              <a:t>Our approach: </a:t>
            </a:r>
            <a:pPr indent="0" marL="0">
              <a:buNone/>
            </a:pPr>
            <a:r>
              <a:rPr lang="en-US" sz="1600" dirty="0">
                <a:solidFill>
                  <a:schemeClr val="tx1"/>
                </a:solidFill>
              </a:rPr>
              <a:t>Stable Diffusion 1.5 stays frozen; a small LoRA adapter (3.2M parameters, 0.37% of the UNet) learns the style behind a trigger token &lt;rvvarma&gt;.</a:t>
            </a:r>
            <a:endParaRPr lang="en-US" sz="1600" dirty="0"/>
          </a:p>
          <a:p>
            <a:pPr marL="342900" indent="-342900">
              <a:spcAft>
                <a:spcPts val="800"/>
              </a:spcAft>
              <a:buSzPct val="100000"/>
              <a:buChar char="•"/>
            </a:pPr>
            <a:r>
              <a:rPr lang="en-US" sz="1600" b="1" dirty="0">
                <a:solidFill>
                  <a:schemeClr val="tx1"/>
                </a:solidFill>
              </a:rPr>
              <a:t>End goal (4 milestones): </a:t>
            </a:r>
            <a:pPr indent="0" marL="0">
              <a:buNone/>
            </a:pPr>
            <a:r>
              <a:rPr lang="en-US" sz="1600" dirty="0">
                <a:solidFill>
                  <a:schemeClr val="tx1"/>
                </a:solidFill>
              </a:rPr>
              <a:t>epic scene text -&gt; prompt expansion -&gt; style LoRA + pose ControlNet -&gt; evaluated image in a web panel.</a:t>
            </a:r>
            <a:endParaRPr lang="en-US" sz="1600" dirty="0"/>
          </a:p>
        </p:txBody>
      </p:sp>
      <p:pic>
        <p:nvPicPr>
          <p:cNvPr id="5" name="varma-painting" descr="/private/tmp/claude-501/-Users-shashwatsahu-Desktop-the-next-ravi-varma/b50e4b20-09e3-45d0-8877-560ccb85868c/scratchpad/deck/assets/caption_example.jpg">    </p:cNvPr>
          <p:cNvPicPr>
            <a:picLocks noChangeAspect="1"/>
          </p:cNvPicPr>
          <p:nvPr/>
        </p:nvPicPr>
        <p:blipFill>
          <a:blip r:embed="rId1"/>
          <a:stretch>
            <a:fillRect/>
          </a:stretch>
        </p:blipFill>
        <p:spPr>
          <a:xfrm>
            <a:off x="7863840" y="1280160"/>
            <a:ext cx="2743200" cy="4572000"/>
          </a:xfrm>
          <a:prstGeom prst="rect">
            <a:avLst/>
          </a:prstGeom>
        </p:spPr>
      </p:pic>
      <p:sp>
        <p:nvSpPr>
          <p:cNvPr id="6" name="caption"/>
          <p:cNvSpPr txBox="1"/>
          <p:nvPr/>
        </p:nvSpPr>
        <p:spPr>
          <a:xfrm>
            <a:off x="7406640" y="5897880"/>
            <a:ext cx="3657600" cy="274320"/>
          </a:xfrm>
          <a:prstGeom prst="rect">
            <a:avLst/>
          </a:prstGeom>
          <a:noFill/>
          <a:ln/>
        </p:spPr>
        <p:txBody>
          <a:bodyPr wrap="square" lIns="0" tIns="0" rIns="0" bIns="0" rtlCol="0" anchor="ctr"/>
          <a:lstStyle/>
          <a:p>
            <a:pPr algn="ctr" indent="0" marL="0">
              <a:buNone/>
            </a:pPr>
            <a:r>
              <a:rPr lang="en-US" sz="1100" dirty="0">
                <a:solidFill>
                  <a:schemeClr val="accent4"/>
                </a:solidFill>
              </a:rPr>
              <a:t>Hamsa Damayanti - Raja Ravi Varma (training image)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STATUS</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Progress against the proposal</a:t>
            </a:r>
            <a:endParaRPr lang="en-US" sz="3200" dirty="0"/>
          </a:p>
        </p:txBody>
      </p:sp>
      <p:sp>
        <p:nvSpPr>
          <p:cNvPr id="4" name="ms-card-0"/>
          <p:cNvSpPr/>
          <p:nvPr/>
        </p:nvSpPr>
        <p:spPr>
          <a:xfrm>
            <a:off x="548640" y="1371600"/>
            <a:ext cx="7498080" cy="914400"/>
          </a:xfrm>
          <a:prstGeom prst="roundRect">
            <a:avLst>
              <a:gd name="adj" fmla="val 8000"/>
            </a:avLst>
          </a:prstGeom>
          <a:solidFill>
            <a:schemeClr val="bg2"/>
          </a:solidFill>
          <a:ln/>
        </p:spPr>
      </p:sp>
      <p:sp>
        <p:nvSpPr>
          <p:cNvPr id="5" name="ms-0-circle"/>
          <p:cNvSpPr/>
          <p:nvPr/>
        </p:nvSpPr>
        <p:spPr>
          <a:xfrm>
            <a:off x="777240" y="1527048"/>
            <a:ext cx="603504" cy="603504"/>
          </a:xfrm>
          <a:prstGeom prst="ellipse">
            <a:avLst/>
          </a:prstGeom>
          <a:solidFill>
            <a:schemeClr val="accent2"/>
          </a:solidFill>
          <a:ln/>
        </p:spPr>
      </p:sp>
      <p:pic>
        <p:nvPicPr>
          <p:cNvPr id="6" name="ms-0-icon" descr="preencoded.png">    </p:cNvPr>
          <p:cNvPicPr>
            <a:picLocks noChangeAspect="1"/>
          </p:cNvPicPr>
          <p:nvPr/>
        </p:nvPicPr>
        <p:blipFill>
          <a:blip r:embed="rId1"/>
          <a:stretch>
            <a:fillRect/>
          </a:stretch>
        </p:blipFill>
        <p:spPr>
          <a:xfrm>
            <a:off x="934151" y="1683959"/>
            <a:ext cx="289682" cy="289682"/>
          </a:xfrm>
          <a:prstGeom prst="rect">
            <a:avLst/>
          </a:prstGeom>
        </p:spPr>
      </p:pic>
      <p:sp>
        <p:nvSpPr>
          <p:cNvPr id="7" name="ms-text-0"/>
          <p:cNvSpPr txBox="1"/>
          <p:nvPr/>
        </p:nvSpPr>
        <p:spPr>
          <a:xfrm>
            <a:off x="1600200" y="1463040"/>
            <a:ext cx="4206240" cy="731520"/>
          </a:xfrm>
          <a:prstGeom prst="rect">
            <a:avLst/>
          </a:prstGeom>
          <a:noFill/>
          <a:ln/>
        </p:spPr>
        <p:txBody>
          <a:bodyPr wrap="square" lIns="0" tIns="0" rIns="0" bIns="0" rtlCol="0" anchor="ctr"/>
          <a:lstStyle/>
          <a:p>
            <a:pPr indent="0" marL="0">
              <a:buNone/>
            </a:pPr>
            <a:r>
              <a:rPr lang="en-US" sz="1800" b="1" dirty="0">
                <a:solidFill>
                  <a:schemeClr val="tx2"/>
                </a:solidFill>
              </a:rPr>
              <a:t>Milestone 1</a:t>
            </a:r>
            <a:endParaRPr lang="en-US" sz="1800" dirty="0"/>
          </a:p>
          <a:p>
            <a:pPr indent="0" marL="0">
              <a:buNone/>
            </a:pPr>
            <a:r>
              <a:rPr lang="en-US" sz="1400" dirty="0">
                <a:solidFill>
                  <a:schemeClr val="tx1"/>
                </a:solidFill>
              </a:rPr>
              <a:t>Corpus curation &amp; multimodal captioning</a:t>
            </a:r>
            <a:endParaRPr lang="en-US" sz="1800" dirty="0"/>
          </a:p>
        </p:txBody>
      </p:sp>
      <p:sp>
        <p:nvSpPr>
          <p:cNvPr id="8" name="ms-status-0"/>
          <p:cNvSpPr txBox="1"/>
          <p:nvPr/>
        </p:nvSpPr>
        <p:spPr>
          <a:xfrm>
            <a:off x="5760720" y="1463040"/>
            <a:ext cx="2148840" cy="731520"/>
          </a:xfrm>
          <a:prstGeom prst="rect">
            <a:avLst/>
          </a:prstGeom>
          <a:noFill/>
          <a:ln/>
        </p:spPr>
        <p:txBody>
          <a:bodyPr wrap="square" lIns="0" tIns="0" rIns="0" bIns="0" rtlCol="0" anchor="ctr"/>
          <a:lstStyle/>
          <a:p>
            <a:pPr algn="r" indent="0" marL="0">
              <a:buNone/>
            </a:pPr>
            <a:r>
              <a:rPr lang="en-US" sz="1400" b="1" dirty="0">
                <a:solidFill>
                  <a:schemeClr val="accent2"/>
                </a:solidFill>
              </a:rPr>
              <a:t>Complete</a:t>
            </a:r>
            <a:endParaRPr lang="en-US" sz="1400" dirty="0"/>
          </a:p>
        </p:txBody>
      </p:sp>
      <p:sp>
        <p:nvSpPr>
          <p:cNvPr id="9" name="ms-card-1"/>
          <p:cNvSpPr/>
          <p:nvPr/>
        </p:nvSpPr>
        <p:spPr>
          <a:xfrm>
            <a:off x="548640" y="2450592"/>
            <a:ext cx="7498080" cy="914400"/>
          </a:xfrm>
          <a:prstGeom prst="roundRect">
            <a:avLst>
              <a:gd name="adj" fmla="val 8000"/>
            </a:avLst>
          </a:prstGeom>
          <a:solidFill>
            <a:schemeClr val="bg2"/>
          </a:solidFill>
          <a:ln/>
        </p:spPr>
      </p:sp>
      <p:sp>
        <p:nvSpPr>
          <p:cNvPr id="10" name="ms-1-circle"/>
          <p:cNvSpPr/>
          <p:nvPr/>
        </p:nvSpPr>
        <p:spPr>
          <a:xfrm>
            <a:off x="777240" y="2606040"/>
            <a:ext cx="603504" cy="603504"/>
          </a:xfrm>
          <a:prstGeom prst="ellipse">
            <a:avLst/>
          </a:prstGeom>
          <a:solidFill>
            <a:schemeClr val="accent2"/>
          </a:solidFill>
          <a:ln/>
        </p:spPr>
      </p:sp>
      <p:pic>
        <p:nvPicPr>
          <p:cNvPr id="11" name="ms-1-icon" descr="preencoded.png">    </p:cNvPr>
          <p:cNvPicPr>
            <a:picLocks noChangeAspect="1"/>
          </p:cNvPicPr>
          <p:nvPr/>
        </p:nvPicPr>
        <p:blipFill>
          <a:blip r:embed="rId2"/>
          <a:stretch>
            <a:fillRect/>
          </a:stretch>
        </p:blipFill>
        <p:spPr>
          <a:xfrm>
            <a:off x="934151" y="2762951"/>
            <a:ext cx="289682" cy="289682"/>
          </a:xfrm>
          <a:prstGeom prst="rect">
            <a:avLst/>
          </a:prstGeom>
        </p:spPr>
      </p:pic>
      <p:sp>
        <p:nvSpPr>
          <p:cNvPr id="12" name="ms-text-1"/>
          <p:cNvSpPr txBox="1"/>
          <p:nvPr/>
        </p:nvSpPr>
        <p:spPr>
          <a:xfrm>
            <a:off x="1600200" y="2542032"/>
            <a:ext cx="4206240" cy="731520"/>
          </a:xfrm>
          <a:prstGeom prst="rect">
            <a:avLst/>
          </a:prstGeom>
          <a:noFill/>
          <a:ln/>
        </p:spPr>
        <p:txBody>
          <a:bodyPr wrap="square" lIns="0" tIns="0" rIns="0" bIns="0" rtlCol="0" anchor="ctr"/>
          <a:lstStyle/>
          <a:p>
            <a:pPr indent="0" marL="0">
              <a:buNone/>
            </a:pPr>
            <a:r>
              <a:rPr lang="en-US" sz="1800" b="1" dirty="0">
                <a:solidFill>
                  <a:schemeClr val="tx2"/>
                </a:solidFill>
              </a:rPr>
              <a:t>Milestone 2</a:t>
            </a:r>
            <a:endParaRPr lang="en-US" sz="1800" dirty="0"/>
          </a:p>
          <a:p>
            <a:pPr indent="0" marL="0">
              <a:buNone/>
            </a:pPr>
            <a:r>
              <a:rPr lang="en-US" sz="1400" dirty="0">
                <a:solidFill>
                  <a:schemeClr val="tx1"/>
                </a:solidFill>
              </a:rPr>
              <a:t>Style-injected LoRA fine-tuning</a:t>
            </a:r>
            <a:endParaRPr lang="en-US" sz="1800" dirty="0"/>
          </a:p>
        </p:txBody>
      </p:sp>
      <p:sp>
        <p:nvSpPr>
          <p:cNvPr id="13" name="ms-status-1"/>
          <p:cNvSpPr txBox="1"/>
          <p:nvPr/>
        </p:nvSpPr>
        <p:spPr>
          <a:xfrm>
            <a:off x="5760720" y="2542032"/>
            <a:ext cx="2148840" cy="731520"/>
          </a:xfrm>
          <a:prstGeom prst="rect">
            <a:avLst/>
          </a:prstGeom>
          <a:noFill/>
          <a:ln/>
        </p:spPr>
        <p:txBody>
          <a:bodyPr wrap="square" lIns="0" tIns="0" rIns="0" bIns="0" rtlCol="0" anchor="ctr"/>
          <a:lstStyle/>
          <a:p>
            <a:pPr algn="r" indent="0" marL="0">
              <a:buNone/>
            </a:pPr>
            <a:r>
              <a:rPr lang="en-US" sz="1400" b="1" dirty="0">
                <a:solidFill>
                  <a:schemeClr val="accent2"/>
                </a:solidFill>
              </a:rPr>
              <a:t>Complete - trained &amp; evaluated</a:t>
            </a:r>
            <a:endParaRPr lang="en-US" sz="1400" dirty="0"/>
          </a:p>
        </p:txBody>
      </p:sp>
      <p:sp>
        <p:nvSpPr>
          <p:cNvPr id="14" name="ms-card-2"/>
          <p:cNvSpPr/>
          <p:nvPr/>
        </p:nvSpPr>
        <p:spPr>
          <a:xfrm>
            <a:off x="548640" y="3529584"/>
            <a:ext cx="7498080" cy="914400"/>
          </a:xfrm>
          <a:prstGeom prst="roundRect">
            <a:avLst>
              <a:gd name="adj" fmla="val 8000"/>
            </a:avLst>
          </a:prstGeom>
          <a:solidFill>
            <a:schemeClr val="bg2"/>
          </a:solidFill>
          <a:ln/>
        </p:spPr>
      </p:sp>
      <p:sp>
        <p:nvSpPr>
          <p:cNvPr id="15" name="ms-2-circle"/>
          <p:cNvSpPr/>
          <p:nvPr/>
        </p:nvSpPr>
        <p:spPr>
          <a:xfrm>
            <a:off x="777240" y="3685032"/>
            <a:ext cx="603504" cy="603504"/>
          </a:xfrm>
          <a:prstGeom prst="ellipse">
            <a:avLst/>
          </a:prstGeom>
          <a:solidFill>
            <a:schemeClr val="accent4"/>
          </a:solidFill>
          <a:ln/>
        </p:spPr>
      </p:sp>
      <p:pic>
        <p:nvPicPr>
          <p:cNvPr id="16" name="ms-2-icon" descr="preencoded.png">    </p:cNvPr>
          <p:cNvPicPr>
            <a:picLocks noChangeAspect="1"/>
          </p:cNvPicPr>
          <p:nvPr/>
        </p:nvPicPr>
        <p:blipFill>
          <a:blip r:embed="rId3"/>
          <a:stretch>
            <a:fillRect/>
          </a:stretch>
        </p:blipFill>
        <p:spPr>
          <a:xfrm>
            <a:off x="934151" y="3841943"/>
            <a:ext cx="289682" cy="289682"/>
          </a:xfrm>
          <a:prstGeom prst="rect">
            <a:avLst/>
          </a:prstGeom>
        </p:spPr>
      </p:pic>
      <p:sp>
        <p:nvSpPr>
          <p:cNvPr id="17" name="ms-text-2"/>
          <p:cNvSpPr txBox="1"/>
          <p:nvPr/>
        </p:nvSpPr>
        <p:spPr>
          <a:xfrm>
            <a:off x="1600200" y="3621024"/>
            <a:ext cx="4206240" cy="731520"/>
          </a:xfrm>
          <a:prstGeom prst="rect">
            <a:avLst/>
          </a:prstGeom>
          <a:noFill/>
          <a:ln/>
        </p:spPr>
        <p:txBody>
          <a:bodyPr wrap="square" lIns="0" tIns="0" rIns="0" bIns="0" rtlCol="0" anchor="ctr"/>
          <a:lstStyle/>
          <a:p>
            <a:pPr indent="0" marL="0">
              <a:buNone/>
            </a:pPr>
            <a:r>
              <a:rPr lang="en-US" sz="1800" b="1" dirty="0">
                <a:solidFill>
                  <a:schemeClr val="tx2"/>
                </a:solidFill>
              </a:rPr>
              <a:t>Milestone 3</a:t>
            </a:r>
            <a:endParaRPr lang="en-US" sz="1800" dirty="0"/>
          </a:p>
          <a:p>
            <a:pPr indent="0" marL="0">
              <a:buNone/>
            </a:pPr>
            <a:r>
              <a:rPr lang="en-US" sz="1400" dirty="0">
                <a:solidFill>
                  <a:schemeClr val="tx1"/>
                </a:solidFill>
              </a:rPr>
              <a:t>Text parsing &amp; semantic scene generation</a:t>
            </a:r>
            <a:endParaRPr lang="en-US" sz="1800" dirty="0"/>
          </a:p>
        </p:txBody>
      </p:sp>
      <p:sp>
        <p:nvSpPr>
          <p:cNvPr id="18" name="ms-status-2"/>
          <p:cNvSpPr txBox="1"/>
          <p:nvPr/>
        </p:nvSpPr>
        <p:spPr>
          <a:xfrm>
            <a:off x="5760720" y="3621024"/>
            <a:ext cx="2148840" cy="731520"/>
          </a:xfrm>
          <a:prstGeom prst="rect">
            <a:avLst/>
          </a:prstGeom>
          <a:noFill/>
          <a:ln/>
        </p:spPr>
        <p:txBody>
          <a:bodyPr wrap="square" lIns="0" tIns="0" rIns="0" bIns="0" rtlCol="0" anchor="ctr"/>
          <a:lstStyle/>
          <a:p>
            <a:pPr algn="r" indent="0" marL="0">
              <a:buNone/>
            </a:pPr>
            <a:r>
              <a:rPr lang="en-US" sz="1400" b="1" dirty="0">
                <a:solidFill>
                  <a:schemeClr val="accent4"/>
                </a:solidFill>
              </a:rPr>
              <a:t>Not started</a:t>
            </a:r>
            <a:endParaRPr lang="en-US" sz="1400" dirty="0"/>
          </a:p>
        </p:txBody>
      </p:sp>
      <p:sp>
        <p:nvSpPr>
          <p:cNvPr id="19" name="ms-card-3"/>
          <p:cNvSpPr/>
          <p:nvPr/>
        </p:nvSpPr>
        <p:spPr>
          <a:xfrm>
            <a:off x="548640" y="4608576"/>
            <a:ext cx="7498080" cy="914400"/>
          </a:xfrm>
          <a:prstGeom prst="roundRect">
            <a:avLst>
              <a:gd name="adj" fmla="val 8000"/>
            </a:avLst>
          </a:prstGeom>
          <a:solidFill>
            <a:schemeClr val="bg2"/>
          </a:solidFill>
          <a:ln/>
        </p:spPr>
      </p:sp>
      <p:sp>
        <p:nvSpPr>
          <p:cNvPr id="20" name="ms-3-circle"/>
          <p:cNvSpPr/>
          <p:nvPr/>
        </p:nvSpPr>
        <p:spPr>
          <a:xfrm>
            <a:off x="777240" y="4764024"/>
            <a:ext cx="603504" cy="603504"/>
          </a:xfrm>
          <a:prstGeom prst="ellipse">
            <a:avLst/>
          </a:prstGeom>
          <a:solidFill>
            <a:schemeClr val="accent4"/>
          </a:solidFill>
          <a:ln/>
        </p:spPr>
      </p:sp>
      <p:pic>
        <p:nvPicPr>
          <p:cNvPr id="21" name="ms-3-icon" descr="preencoded.png">    </p:cNvPr>
          <p:cNvPicPr>
            <a:picLocks noChangeAspect="1"/>
          </p:cNvPicPr>
          <p:nvPr/>
        </p:nvPicPr>
        <p:blipFill>
          <a:blip r:embed="rId4"/>
          <a:stretch>
            <a:fillRect/>
          </a:stretch>
        </p:blipFill>
        <p:spPr>
          <a:xfrm>
            <a:off x="934151" y="4920935"/>
            <a:ext cx="289682" cy="289682"/>
          </a:xfrm>
          <a:prstGeom prst="rect">
            <a:avLst/>
          </a:prstGeom>
        </p:spPr>
      </p:pic>
      <p:sp>
        <p:nvSpPr>
          <p:cNvPr id="22" name="ms-text-3"/>
          <p:cNvSpPr txBox="1"/>
          <p:nvPr/>
        </p:nvSpPr>
        <p:spPr>
          <a:xfrm>
            <a:off x="1600200" y="4700016"/>
            <a:ext cx="4206240" cy="731520"/>
          </a:xfrm>
          <a:prstGeom prst="rect">
            <a:avLst/>
          </a:prstGeom>
          <a:noFill/>
          <a:ln/>
        </p:spPr>
        <p:txBody>
          <a:bodyPr wrap="square" lIns="0" tIns="0" rIns="0" bIns="0" rtlCol="0" anchor="ctr"/>
          <a:lstStyle/>
          <a:p>
            <a:pPr indent="0" marL="0">
              <a:buNone/>
            </a:pPr>
            <a:r>
              <a:rPr lang="en-US" sz="1800" b="1" dirty="0">
                <a:solidFill>
                  <a:schemeClr val="tx2"/>
                </a:solidFill>
              </a:rPr>
              <a:t>Milestone 4</a:t>
            </a:r>
            <a:endParaRPr lang="en-US" sz="1800" dirty="0"/>
          </a:p>
          <a:p>
            <a:pPr indent="0" marL="0">
              <a:buNone/>
            </a:pPr>
            <a:r>
              <a:rPr lang="en-US" sz="1400" dirty="0">
                <a:solidFill>
                  <a:schemeClr val="tx1"/>
                </a:solidFill>
              </a:rPr>
              <a:t>ControlNet, evaluation framework, web panel</a:t>
            </a:r>
            <a:endParaRPr lang="en-US" sz="1800" dirty="0"/>
          </a:p>
        </p:txBody>
      </p:sp>
      <p:sp>
        <p:nvSpPr>
          <p:cNvPr id="23" name="ms-status-3"/>
          <p:cNvSpPr txBox="1"/>
          <p:nvPr/>
        </p:nvSpPr>
        <p:spPr>
          <a:xfrm>
            <a:off x="5760720" y="4700016"/>
            <a:ext cx="2148840" cy="731520"/>
          </a:xfrm>
          <a:prstGeom prst="rect">
            <a:avLst/>
          </a:prstGeom>
          <a:noFill/>
          <a:ln/>
        </p:spPr>
        <p:txBody>
          <a:bodyPr wrap="square" lIns="0" tIns="0" rIns="0" bIns="0" rtlCol="0" anchor="ctr"/>
          <a:lstStyle/>
          <a:p>
            <a:pPr algn="r" indent="0" marL="0">
              <a:buNone/>
            </a:pPr>
            <a:r>
              <a:rPr lang="en-US" sz="1400" b="1" dirty="0">
                <a:solidFill>
                  <a:schemeClr val="accent4"/>
                </a:solidFill>
              </a:rPr>
              <a:t>Not started</a:t>
            </a:r>
            <a:endParaRPr lang="en-US" sz="1400" dirty="0"/>
          </a:p>
        </p:txBody>
      </p:sp>
      <p:sp>
        <p:nvSpPr>
          <p:cNvPr id="24" name="overall-stat"/>
          <p:cNvSpPr txBox="1"/>
          <p:nvPr/>
        </p:nvSpPr>
        <p:spPr>
          <a:xfrm>
            <a:off x="8595360" y="1737360"/>
            <a:ext cx="3017520" cy="1188720"/>
          </a:xfrm>
          <a:prstGeom prst="rect">
            <a:avLst/>
          </a:prstGeom>
          <a:noFill/>
          <a:ln/>
        </p:spPr>
        <p:txBody>
          <a:bodyPr wrap="square" lIns="0" tIns="0" rIns="0" bIns="0" rtlCol="0" anchor="ctr"/>
          <a:lstStyle/>
          <a:p>
            <a:pPr algn="ctr" indent="0" marL="0">
              <a:buNone/>
            </a:pPr>
            <a:r>
              <a:rPr lang="en-US" sz="7200" b="1" dirty="0">
                <a:solidFill>
                  <a:schemeClr val="accent1"/>
                </a:solidFill>
                <a:latin typeface="Cambria" pitchFamily="34" charset="0"/>
                <a:ea typeface="Cambria" pitchFamily="34" charset="-122"/>
                <a:cs typeface="Cambria" pitchFamily="34" charset="-120"/>
              </a:rPr>
              <a:t>~50%</a:t>
            </a:r>
            <a:endParaRPr lang="en-US" sz="7200" dirty="0"/>
          </a:p>
        </p:txBody>
      </p:sp>
      <p:sp>
        <p:nvSpPr>
          <p:cNvPr id="25" name="overall-label"/>
          <p:cNvSpPr txBox="1"/>
          <p:nvPr/>
        </p:nvSpPr>
        <p:spPr>
          <a:xfrm>
            <a:off x="8595360" y="2926080"/>
            <a:ext cx="3017520" cy="365760"/>
          </a:xfrm>
          <a:prstGeom prst="rect">
            <a:avLst/>
          </a:prstGeom>
          <a:noFill/>
          <a:ln/>
        </p:spPr>
        <p:txBody>
          <a:bodyPr wrap="square" lIns="0" tIns="0" rIns="0" bIns="0" rtlCol="0" anchor="ctr"/>
          <a:lstStyle/>
          <a:p>
            <a:pPr algn="ctr" indent="0" marL="0">
              <a:buNone/>
            </a:pPr>
            <a:r>
              <a:rPr lang="en-US" sz="1600" dirty="0">
                <a:solidFill>
                  <a:schemeClr val="tx1"/>
                </a:solidFill>
              </a:rPr>
              <a:t>of the proposal delivered</a:t>
            </a:r>
            <a:endParaRPr lang="en-US" sz="1600" dirty="0"/>
          </a:p>
        </p:txBody>
      </p:sp>
      <p:sp>
        <p:nvSpPr>
          <p:cNvPr id="26" name="overall-note"/>
          <p:cNvSpPr txBox="1"/>
          <p:nvPr/>
        </p:nvSpPr>
        <p:spPr>
          <a:xfrm>
            <a:off x="8595360" y="3474720"/>
            <a:ext cx="3017520" cy="1097280"/>
          </a:xfrm>
          <a:prstGeom prst="rect">
            <a:avLst/>
          </a:prstGeom>
          <a:noFill/>
          <a:ln/>
        </p:spPr>
        <p:txBody>
          <a:bodyPr wrap="square" lIns="0" tIns="0" rIns="0" bIns="0" rtlCol="0" anchor="ctr"/>
          <a:lstStyle/>
          <a:p>
            <a:pPr algn="ctr" indent="0" marL="0">
              <a:buNone/>
            </a:pPr>
            <a:r>
              <a:rPr lang="en-US" sz="1300" i="1" dirty="0">
                <a:solidFill>
                  <a:schemeClr val="accent4"/>
                </a:solidFill>
              </a:rPr>
              <a:t>2 of 4 milestones complete, with a trained model, generated images and a paired evaluation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ARCHITECTURE</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has been built: the end-to-end pipeline</a:t>
            </a:r>
            <a:endParaRPr lang="en-US" sz="3200" dirty="0"/>
          </a:p>
        </p:txBody>
      </p:sp>
      <p:sp>
        <p:nvSpPr>
          <p:cNvPr id="4" name="step-card-0"/>
          <p:cNvSpPr/>
          <p:nvPr/>
        </p:nvSpPr>
        <p:spPr>
          <a:xfrm>
            <a:off x="548640" y="1554480"/>
            <a:ext cx="1645920" cy="2834640"/>
          </a:xfrm>
          <a:prstGeom prst="roundRect">
            <a:avLst>
              <a:gd name="adj" fmla="val 4444"/>
            </a:avLst>
          </a:prstGeom>
          <a:solidFill>
            <a:schemeClr val="bg2"/>
          </a:solidFill>
          <a:ln/>
        </p:spPr>
      </p:sp>
      <p:sp>
        <p:nvSpPr>
          <p:cNvPr id="5" name="step-0-circle"/>
          <p:cNvSpPr/>
          <p:nvPr/>
        </p:nvSpPr>
        <p:spPr>
          <a:xfrm>
            <a:off x="1051560" y="1783080"/>
            <a:ext cx="640080" cy="640080"/>
          </a:xfrm>
          <a:prstGeom prst="ellipse">
            <a:avLst/>
          </a:prstGeom>
          <a:solidFill>
            <a:schemeClr val="accent2"/>
          </a:solidFill>
          <a:ln/>
        </p:spPr>
      </p:sp>
      <p:pic>
        <p:nvPicPr>
          <p:cNvPr id="6" name="step-0-icon" descr="preencoded.png">    </p:cNvPr>
          <p:cNvPicPr>
            <a:picLocks noChangeAspect="1"/>
          </p:cNvPicPr>
          <p:nvPr/>
        </p:nvPicPr>
        <p:blipFill>
          <a:blip r:embed="rId1"/>
          <a:stretch>
            <a:fillRect/>
          </a:stretch>
        </p:blipFill>
        <p:spPr>
          <a:xfrm>
            <a:off x="1217981" y="1949501"/>
            <a:ext cx="307238" cy="307238"/>
          </a:xfrm>
          <a:prstGeom prst="rect">
            <a:avLst/>
          </a:prstGeom>
        </p:spPr>
      </p:pic>
      <p:sp>
        <p:nvSpPr>
          <p:cNvPr id="7" name="step-title-0"/>
          <p:cNvSpPr txBox="1"/>
          <p:nvPr/>
        </p:nvSpPr>
        <p:spPr>
          <a:xfrm>
            <a:off x="640080" y="2560320"/>
            <a:ext cx="1463040" cy="731520"/>
          </a:xfrm>
          <a:prstGeom prst="rect">
            <a:avLst/>
          </a:prstGeom>
          <a:noFill/>
          <a:ln/>
        </p:spPr>
        <p:txBody>
          <a:bodyPr wrap="square" lIns="0" tIns="0" rIns="0" bIns="0" rtlCol="0" anchor="ctr"/>
          <a:lstStyle/>
          <a:p>
            <a:pPr algn="ctr" indent="0" marL="0">
              <a:buNone/>
            </a:pPr>
            <a:r>
              <a:rPr lang="en-US" sz="1500" b="1" dirty="0">
                <a:solidFill>
                  <a:schemeClr val="tx2"/>
                </a:solidFill>
              </a:rPr>
              <a:t>Wikimedia</a:t>
            </a:r>
            <a:endParaRPr lang="en-US" sz="1500" dirty="0"/>
          </a:p>
          <a:p>
            <a:pPr algn="ctr" indent="0" marL="0">
              <a:buNone/>
            </a:pPr>
            <a:r>
              <a:rPr lang="en-US" sz="1500" b="1" dirty="0">
                <a:solidFill>
                  <a:schemeClr val="tx2"/>
                </a:solidFill>
              </a:rPr>
              <a:t>download</a:t>
            </a:r>
            <a:endParaRPr lang="en-US" sz="1500" dirty="0"/>
          </a:p>
        </p:txBody>
      </p:sp>
      <p:sp>
        <p:nvSpPr>
          <p:cNvPr id="8" name="step-desc-0"/>
          <p:cNvSpPr txBox="1"/>
          <p:nvPr/>
        </p:nvSpPr>
        <p:spPr>
          <a:xfrm>
            <a:off x="640080" y="3337560"/>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200 images,</a:t>
            </a:r>
            <a:endParaRPr lang="en-US" sz="1200" dirty="0"/>
          </a:p>
          <a:p>
            <a:pPr algn="ctr" indent="0" marL="0">
              <a:buNone/>
            </a:pPr>
            <a:r>
              <a:rPr lang="en-US" sz="1200" dirty="0">
                <a:solidFill>
                  <a:schemeClr val="tx1"/>
                </a:solidFill>
              </a:rPr>
              <a:t>provenance</a:t>
            </a:r>
            <a:endParaRPr lang="en-US" sz="1200" dirty="0"/>
          </a:p>
        </p:txBody>
      </p:sp>
      <p:sp>
        <p:nvSpPr>
          <p:cNvPr id="9" name="arrow-0"/>
          <p:cNvSpPr txBox="1"/>
          <p:nvPr/>
        </p:nvSpPr>
        <p:spPr>
          <a:xfrm>
            <a:off x="2194560" y="2651760"/>
            <a:ext cx="246888" cy="365760"/>
          </a:xfrm>
          <a:prstGeom prst="rect">
            <a:avLst/>
          </a:prstGeom>
          <a:noFill/>
          <a:ln/>
        </p:spPr>
        <p:txBody>
          <a:bodyPr wrap="square" lIns="0" tIns="0" rIns="0" bIns="0" rtlCol="0" anchor="ctr"/>
          <a:lstStyle/>
          <a:p>
            <a:pPr algn="ctr" indent="0" marL="0">
              <a:buNone/>
            </a:pPr>
            <a:r>
              <a:rPr lang="en-US" sz="1800" dirty="0">
                <a:solidFill>
                  <a:schemeClr val="accent1"/>
                </a:solidFill>
              </a:rPr>
              <a:t>→</a:t>
            </a:r>
            <a:endParaRPr lang="en-US" sz="1800" dirty="0"/>
          </a:p>
        </p:txBody>
      </p:sp>
      <p:sp>
        <p:nvSpPr>
          <p:cNvPr id="10" name="step-card-1"/>
          <p:cNvSpPr/>
          <p:nvPr/>
        </p:nvSpPr>
        <p:spPr>
          <a:xfrm>
            <a:off x="2441448" y="1554480"/>
            <a:ext cx="1645920" cy="2834640"/>
          </a:xfrm>
          <a:prstGeom prst="roundRect">
            <a:avLst>
              <a:gd name="adj" fmla="val 4444"/>
            </a:avLst>
          </a:prstGeom>
          <a:solidFill>
            <a:schemeClr val="bg2"/>
          </a:solidFill>
          <a:ln/>
        </p:spPr>
      </p:sp>
      <p:sp>
        <p:nvSpPr>
          <p:cNvPr id="11" name="step-1-circle"/>
          <p:cNvSpPr/>
          <p:nvPr/>
        </p:nvSpPr>
        <p:spPr>
          <a:xfrm>
            <a:off x="2944368" y="1783080"/>
            <a:ext cx="640080" cy="640080"/>
          </a:xfrm>
          <a:prstGeom prst="ellipse">
            <a:avLst/>
          </a:prstGeom>
          <a:solidFill>
            <a:schemeClr val="accent2"/>
          </a:solidFill>
          <a:ln/>
        </p:spPr>
      </p:sp>
      <p:pic>
        <p:nvPicPr>
          <p:cNvPr id="12" name="step-1-icon" descr="preencoded.png">    </p:cNvPr>
          <p:cNvPicPr>
            <a:picLocks noChangeAspect="1"/>
          </p:cNvPicPr>
          <p:nvPr/>
        </p:nvPicPr>
        <p:blipFill>
          <a:blip r:embed="rId2"/>
          <a:stretch>
            <a:fillRect/>
          </a:stretch>
        </p:blipFill>
        <p:spPr>
          <a:xfrm>
            <a:off x="3110789" y="1949501"/>
            <a:ext cx="307238" cy="307238"/>
          </a:xfrm>
          <a:prstGeom prst="rect">
            <a:avLst/>
          </a:prstGeom>
        </p:spPr>
      </p:pic>
      <p:sp>
        <p:nvSpPr>
          <p:cNvPr id="13" name="step-title-1"/>
          <p:cNvSpPr txBox="1"/>
          <p:nvPr/>
        </p:nvSpPr>
        <p:spPr>
          <a:xfrm>
            <a:off x="2532888" y="2560320"/>
            <a:ext cx="1463040" cy="731520"/>
          </a:xfrm>
          <a:prstGeom prst="rect">
            <a:avLst/>
          </a:prstGeom>
          <a:noFill/>
          <a:ln/>
        </p:spPr>
        <p:txBody>
          <a:bodyPr wrap="square" lIns="0" tIns="0" rIns="0" bIns="0" rtlCol="0" anchor="ctr"/>
          <a:lstStyle/>
          <a:p>
            <a:pPr algn="ctr" indent="0" marL="0">
              <a:buNone/>
            </a:pPr>
            <a:r>
              <a:rPr lang="en-US" sz="1500" b="1" dirty="0">
                <a:solidFill>
                  <a:schemeClr val="tx2"/>
                </a:solidFill>
              </a:rPr>
              <a:t>Validate &amp;</a:t>
            </a:r>
            <a:endParaRPr lang="en-US" sz="1500" dirty="0"/>
          </a:p>
          <a:p>
            <a:pPr algn="ctr" indent="0" marL="0">
              <a:buNone/>
            </a:pPr>
            <a:r>
              <a:rPr lang="en-US" sz="1500" b="1" dirty="0">
                <a:solidFill>
                  <a:schemeClr val="tx2"/>
                </a:solidFill>
              </a:rPr>
              <a:t>curate</a:t>
            </a:r>
            <a:endParaRPr lang="en-US" sz="1500" dirty="0"/>
          </a:p>
        </p:txBody>
      </p:sp>
      <p:sp>
        <p:nvSpPr>
          <p:cNvPr id="14" name="step-desc-1"/>
          <p:cNvSpPr txBox="1"/>
          <p:nvPr/>
        </p:nvSpPr>
        <p:spPr>
          <a:xfrm>
            <a:off x="2532888" y="3337560"/>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134 accepted</a:t>
            </a:r>
            <a:endParaRPr lang="en-US" sz="1200" dirty="0"/>
          </a:p>
        </p:txBody>
      </p:sp>
      <p:sp>
        <p:nvSpPr>
          <p:cNvPr id="15" name="arrow-1"/>
          <p:cNvSpPr txBox="1"/>
          <p:nvPr/>
        </p:nvSpPr>
        <p:spPr>
          <a:xfrm>
            <a:off x="4087368" y="2651760"/>
            <a:ext cx="246888" cy="365760"/>
          </a:xfrm>
          <a:prstGeom prst="rect">
            <a:avLst/>
          </a:prstGeom>
          <a:noFill/>
          <a:ln/>
        </p:spPr>
        <p:txBody>
          <a:bodyPr wrap="square" lIns="0" tIns="0" rIns="0" bIns="0" rtlCol="0" anchor="ctr"/>
          <a:lstStyle/>
          <a:p>
            <a:pPr algn="ctr" indent="0" marL="0">
              <a:buNone/>
            </a:pPr>
            <a:r>
              <a:rPr lang="en-US" sz="1800" dirty="0">
                <a:solidFill>
                  <a:schemeClr val="accent1"/>
                </a:solidFill>
              </a:rPr>
              <a:t>→</a:t>
            </a:r>
            <a:endParaRPr lang="en-US" sz="1800" dirty="0"/>
          </a:p>
        </p:txBody>
      </p:sp>
      <p:sp>
        <p:nvSpPr>
          <p:cNvPr id="16" name="step-card-2"/>
          <p:cNvSpPr/>
          <p:nvPr/>
        </p:nvSpPr>
        <p:spPr>
          <a:xfrm>
            <a:off x="4334256" y="1554480"/>
            <a:ext cx="1645920" cy="2834640"/>
          </a:xfrm>
          <a:prstGeom prst="roundRect">
            <a:avLst>
              <a:gd name="adj" fmla="val 4444"/>
            </a:avLst>
          </a:prstGeom>
          <a:solidFill>
            <a:schemeClr val="bg2"/>
          </a:solidFill>
          <a:ln/>
        </p:spPr>
      </p:sp>
      <p:sp>
        <p:nvSpPr>
          <p:cNvPr id="17" name="step-2-circle"/>
          <p:cNvSpPr/>
          <p:nvPr/>
        </p:nvSpPr>
        <p:spPr>
          <a:xfrm>
            <a:off x="4837176" y="1783080"/>
            <a:ext cx="640080" cy="640080"/>
          </a:xfrm>
          <a:prstGeom prst="ellipse">
            <a:avLst/>
          </a:prstGeom>
          <a:solidFill>
            <a:schemeClr val="accent2"/>
          </a:solidFill>
          <a:ln/>
        </p:spPr>
      </p:sp>
      <p:pic>
        <p:nvPicPr>
          <p:cNvPr id="18" name="step-2-icon" descr="preencoded.png">    </p:cNvPr>
          <p:cNvPicPr>
            <a:picLocks noChangeAspect="1"/>
          </p:cNvPicPr>
          <p:nvPr/>
        </p:nvPicPr>
        <p:blipFill>
          <a:blip r:embed="rId3"/>
          <a:stretch>
            <a:fillRect/>
          </a:stretch>
        </p:blipFill>
        <p:spPr>
          <a:xfrm>
            <a:off x="5003597" y="1949501"/>
            <a:ext cx="307238" cy="307238"/>
          </a:xfrm>
          <a:prstGeom prst="rect">
            <a:avLst/>
          </a:prstGeom>
        </p:spPr>
      </p:pic>
      <p:sp>
        <p:nvSpPr>
          <p:cNvPr id="19" name="step-title-2"/>
          <p:cNvSpPr txBox="1"/>
          <p:nvPr/>
        </p:nvSpPr>
        <p:spPr>
          <a:xfrm>
            <a:off x="4425696" y="2560320"/>
            <a:ext cx="1463040" cy="731520"/>
          </a:xfrm>
          <a:prstGeom prst="rect">
            <a:avLst/>
          </a:prstGeom>
          <a:noFill/>
          <a:ln/>
        </p:spPr>
        <p:txBody>
          <a:bodyPr wrap="square" lIns="0" tIns="0" rIns="0" bIns="0" rtlCol="0" anchor="ctr"/>
          <a:lstStyle/>
          <a:p>
            <a:pPr algn="ctr" indent="0" marL="0">
              <a:buNone/>
            </a:pPr>
            <a:r>
              <a:rPr lang="en-US" sz="1500" b="1" dirty="0">
                <a:solidFill>
                  <a:schemeClr val="tx2"/>
                </a:solidFill>
              </a:rPr>
              <a:t>VLM</a:t>
            </a:r>
            <a:endParaRPr lang="en-US" sz="1500" dirty="0"/>
          </a:p>
          <a:p>
            <a:pPr algn="ctr" indent="0" marL="0">
              <a:buNone/>
            </a:pPr>
            <a:r>
              <a:rPr lang="en-US" sz="1500" b="1" dirty="0">
                <a:solidFill>
                  <a:schemeClr val="tx2"/>
                </a:solidFill>
              </a:rPr>
              <a:t>captions</a:t>
            </a:r>
            <a:endParaRPr lang="en-US" sz="1500" dirty="0"/>
          </a:p>
        </p:txBody>
      </p:sp>
      <p:sp>
        <p:nvSpPr>
          <p:cNvPr id="20" name="step-desc-2"/>
          <p:cNvSpPr txBox="1"/>
          <p:nvPr/>
        </p:nvSpPr>
        <p:spPr>
          <a:xfrm>
            <a:off x="4425696" y="3337560"/>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BLIP + BLIP-VQA</a:t>
            </a:r>
            <a:endParaRPr lang="en-US" sz="1200" dirty="0"/>
          </a:p>
          <a:p>
            <a:pPr algn="ctr" indent="0" marL="0">
              <a:buNone/>
            </a:pPr>
            <a:r>
              <a:rPr lang="en-US" sz="1200" dirty="0">
                <a:solidFill>
                  <a:schemeClr val="tx1"/>
                </a:solidFill>
              </a:rPr>
              <a:t>template</a:t>
            </a:r>
            <a:endParaRPr lang="en-US" sz="1200" dirty="0"/>
          </a:p>
        </p:txBody>
      </p:sp>
      <p:sp>
        <p:nvSpPr>
          <p:cNvPr id="21" name="arrow-2"/>
          <p:cNvSpPr txBox="1"/>
          <p:nvPr/>
        </p:nvSpPr>
        <p:spPr>
          <a:xfrm>
            <a:off x="5980176" y="2651760"/>
            <a:ext cx="246888" cy="365760"/>
          </a:xfrm>
          <a:prstGeom prst="rect">
            <a:avLst/>
          </a:prstGeom>
          <a:noFill/>
          <a:ln/>
        </p:spPr>
        <p:txBody>
          <a:bodyPr wrap="square" lIns="0" tIns="0" rIns="0" bIns="0" rtlCol="0" anchor="ctr"/>
          <a:lstStyle/>
          <a:p>
            <a:pPr algn="ctr" indent="0" marL="0">
              <a:buNone/>
            </a:pPr>
            <a:r>
              <a:rPr lang="en-US" sz="1800" dirty="0">
                <a:solidFill>
                  <a:schemeClr val="accent1"/>
                </a:solidFill>
              </a:rPr>
              <a:t>→</a:t>
            </a:r>
            <a:endParaRPr lang="en-US" sz="1800" dirty="0"/>
          </a:p>
        </p:txBody>
      </p:sp>
      <p:sp>
        <p:nvSpPr>
          <p:cNvPr id="22" name="step-card-3"/>
          <p:cNvSpPr/>
          <p:nvPr/>
        </p:nvSpPr>
        <p:spPr>
          <a:xfrm>
            <a:off x="6227064" y="1554480"/>
            <a:ext cx="1645920" cy="2834640"/>
          </a:xfrm>
          <a:prstGeom prst="roundRect">
            <a:avLst>
              <a:gd name="adj" fmla="val 4444"/>
            </a:avLst>
          </a:prstGeom>
          <a:solidFill>
            <a:schemeClr val="bg2"/>
          </a:solidFill>
          <a:ln/>
        </p:spPr>
      </p:sp>
      <p:sp>
        <p:nvSpPr>
          <p:cNvPr id="23" name="step-3-circle"/>
          <p:cNvSpPr/>
          <p:nvPr/>
        </p:nvSpPr>
        <p:spPr>
          <a:xfrm>
            <a:off x="6729984" y="1783080"/>
            <a:ext cx="640080" cy="640080"/>
          </a:xfrm>
          <a:prstGeom prst="ellipse">
            <a:avLst/>
          </a:prstGeom>
          <a:solidFill>
            <a:schemeClr val="accent2"/>
          </a:solidFill>
          <a:ln/>
        </p:spPr>
      </p:sp>
      <p:pic>
        <p:nvPicPr>
          <p:cNvPr id="24" name="step-3-icon" descr="preencoded.png">    </p:cNvPr>
          <p:cNvPicPr>
            <a:picLocks noChangeAspect="1"/>
          </p:cNvPicPr>
          <p:nvPr/>
        </p:nvPicPr>
        <p:blipFill>
          <a:blip r:embed="rId4"/>
          <a:stretch>
            <a:fillRect/>
          </a:stretch>
        </p:blipFill>
        <p:spPr>
          <a:xfrm>
            <a:off x="6896405" y="1949501"/>
            <a:ext cx="307238" cy="307238"/>
          </a:xfrm>
          <a:prstGeom prst="rect">
            <a:avLst/>
          </a:prstGeom>
        </p:spPr>
      </p:pic>
      <p:sp>
        <p:nvSpPr>
          <p:cNvPr id="25" name="step-title-3"/>
          <p:cNvSpPr txBox="1"/>
          <p:nvPr/>
        </p:nvSpPr>
        <p:spPr>
          <a:xfrm>
            <a:off x="6318504" y="2560320"/>
            <a:ext cx="1463040" cy="731520"/>
          </a:xfrm>
          <a:prstGeom prst="rect">
            <a:avLst/>
          </a:prstGeom>
          <a:noFill/>
          <a:ln/>
        </p:spPr>
        <p:txBody>
          <a:bodyPr wrap="square" lIns="0" tIns="0" rIns="0" bIns="0" rtlCol="0" anchor="ctr"/>
          <a:lstStyle/>
          <a:p>
            <a:pPr algn="ctr" indent="0" marL="0">
              <a:buNone/>
            </a:pPr>
            <a:r>
              <a:rPr lang="en-US" sz="1500" b="1" dirty="0">
                <a:solidFill>
                  <a:schemeClr val="tx2"/>
                </a:solidFill>
              </a:rPr>
              <a:t>Prepare</a:t>
            </a:r>
            <a:endParaRPr lang="en-US" sz="1500" dirty="0"/>
          </a:p>
        </p:txBody>
      </p:sp>
      <p:sp>
        <p:nvSpPr>
          <p:cNvPr id="26" name="step-desc-3"/>
          <p:cNvSpPr txBox="1"/>
          <p:nvPr/>
        </p:nvSpPr>
        <p:spPr>
          <a:xfrm>
            <a:off x="6318504" y="3337560"/>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aspect buckets,</a:t>
            </a:r>
            <a:endParaRPr lang="en-US" sz="1200" dirty="0"/>
          </a:p>
          <a:p>
            <a:pPr algn="ctr" indent="0" marL="0">
              <a:buNone/>
            </a:pPr>
            <a:r>
              <a:rPr lang="en-US" sz="1200" dirty="0">
                <a:solidFill>
                  <a:schemeClr val="tx1"/>
                </a:solidFill>
              </a:rPr>
              <a:t>12 held out</a:t>
            </a:r>
            <a:endParaRPr lang="en-US" sz="1200" dirty="0"/>
          </a:p>
        </p:txBody>
      </p:sp>
      <p:sp>
        <p:nvSpPr>
          <p:cNvPr id="27" name="arrow-3"/>
          <p:cNvSpPr txBox="1"/>
          <p:nvPr/>
        </p:nvSpPr>
        <p:spPr>
          <a:xfrm>
            <a:off x="7872984" y="2651760"/>
            <a:ext cx="246888" cy="365760"/>
          </a:xfrm>
          <a:prstGeom prst="rect">
            <a:avLst/>
          </a:prstGeom>
          <a:noFill/>
          <a:ln/>
        </p:spPr>
        <p:txBody>
          <a:bodyPr wrap="square" lIns="0" tIns="0" rIns="0" bIns="0" rtlCol="0" anchor="ctr"/>
          <a:lstStyle/>
          <a:p>
            <a:pPr algn="ctr" indent="0" marL="0">
              <a:buNone/>
            </a:pPr>
            <a:r>
              <a:rPr lang="en-US" sz="1800" dirty="0">
                <a:solidFill>
                  <a:schemeClr val="accent1"/>
                </a:solidFill>
              </a:rPr>
              <a:t>→</a:t>
            </a:r>
            <a:endParaRPr lang="en-US" sz="1800" dirty="0"/>
          </a:p>
        </p:txBody>
      </p:sp>
      <p:sp>
        <p:nvSpPr>
          <p:cNvPr id="28" name="step-card-4"/>
          <p:cNvSpPr/>
          <p:nvPr/>
        </p:nvSpPr>
        <p:spPr>
          <a:xfrm>
            <a:off x="8119872" y="1554480"/>
            <a:ext cx="1645920" cy="2834640"/>
          </a:xfrm>
          <a:prstGeom prst="roundRect">
            <a:avLst>
              <a:gd name="adj" fmla="val 4444"/>
            </a:avLst>
          </a:prstGeom>
          <a:solidFill>
            <a:schemeClr val="bg2"/>
          </a:solidFill>
          <a:ln/>
        </p:spPr>
      </p:sp>
      <p:sp>
        <p:nvSpPr>
          <p:cNvPr id="29" name="step-4-circle"/>
          <p:cNvSpPr/>
          <p:nvPr/>
        </p:nvSpPr>
        <p:spPr>
          <a:xfrm>
            <a:off x="8622792" y="1783080"/>
            <a:ext cx="640080" cy="640080"/>
          </a:xfrm>
          <a:prstGeom prst="ellipse">
            <a:avLst/>
          </a:prstGeom>
          <a:solidFill>
            <a:schemeClr val="accent3"/>
          </a:solidFill>
          <a:ln/>
        </p:spPr>
      </p:sp>
      <p:pic>
        <p:nvPicPr>
          <p:cNvPr id="30" name="step-4-icon" descr="preencoded.png">    </p:cNvPr>
          <p:cNvPicPr>
            <a:picLocks noChangeAspect="1"/>
          </p:cNvPicPr>
          <p:nvPr/>
        </p:nvPicPr>
        <p:blipFill>
          <a:blip r:embed="rId5"/>
          <a:stretch>
            <a:fillRect/>
          </a:stretch>
        </p:blipFill>
        <p:spPr>
          <a:xfrm>
            <a:off x="8789213" y="1949501"/>
            <a:ext cx="307238" cy="307238"/>
          </a:xfrm>
          <a:prstGeom prst="rect">
            <a:avLst/>
          </a:prstGeom>
        </p:spPr>
      </p:pic>
      <p:sp>
        <p:nvSpPr>
          <p:cNvPr id="31" name="step-title-4"/>
          <p:cNvSpPr txBox="1"/>
          <p:nvPr/>
        </p:nvSpPr>
        <p:spPr>
          <a:xfrm>
            <a:off x="8211312" y="2560320"/>
            <a:ext cx="1463040" cy="731520"/>
          </a:xfrm>
          <a:prstGeom prst="rect">
            <a:avLst/>
          </a:prstGeom>
          <a:noFill/>
          <a:ln/>
        </p:spPr>
        <p:txBody>
          <a:bodyPr wrap="square" lIns="0" tIns="0" rIns="0" bIns="0" rtlCol="0" anchor="ctr"/>
          <a:lstStyle/>
          <a:p>
            <a:pPr algn="ctr" indent="0" marL="0">
              <a:buNone/>
            </a:pPr>
            <a:r>
              <a:rPr lang="en-US" sz="1500" b="1" dirty="0">
                <a:solidFill>
                  <a:schemeClr val="tx2"/>
                </a:solidFill>
              </a:rPr>
              <a:t>LoRA</a:t>
            </a:r>
            <a:endParaRPr lang="en-US" sz="1500" dirty="0"/>
          </a:p>
          <a:p>
            <a:pPr algn="ctr" indent="0" marL="0">
              <a:buNone/>
            </a:pPr>
            <a:r>
              <a:rPr lang="en-US" sz="1500" b="1" dirty="0">
                <a:solidFill>
                  <a:schemeClr val="tx2"/>
                </a:solidFill>
              </a:rPr>
              <a:t>training</a:t>
            </a:r>
            <a:endParaRPr lang="en-US" sz="1500" dirty="0"/>
          </a:p>
        </p:txBody>
      </p:sp>
      <p:sp>
        <p:nvSpPr>
          <p:cNvPr id="32" name="step-desc-4"/>
          <p:cNvSpPr txBox="1"/>
          <p:nvPr/>
        </p:nvSpPr>
        <p:spPr>
          <a:xfrm>
            <a:off x="8211312" y="3337560"/>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SD1.5, Colab T4</a:t>
            </a:r>
            <a:endParaRPr lang="en-US" sz="1200" dirty="0"/>
          </a:p>
          <a:p>
            <a:pPr algn="ctr" indent="0" marL="0">
              <a:buNone/>
            </a:pPr>
            <a:r>
              <a:rPr lang="en-US" sz="1200" dirty="0">
                <a:solidFill>
                  <a:schemeClr val="tx1"/>
                </a:solidFill>
              </a:rPr>
              <a:t>1500 steps</a:t>
            </a:r>
            <a:endParaRPr lang="en-US" sz="1200" dirty="0"/>
          </a:p>
        </p:txBody>
      </p:sp>
      <p:sp>
        <p:nvSpPr>
          <p:cNvPr id="33" name="arrow-4"/>
          <p:cNvSpPr txBox="1"/>
          <p:nvPr/>
        </p:nvSpPr>
        <p:spPr>
          <a:xfrm>
            <a:off x="9765792" y="2651760"/>
            <a:ext cx="246888" cy="365760"/>
          </a:xfrm>
          <a:prstGeom prst="rect">
            <a:avLst/>
          </a:prstGeom>
          <a:noFill/>
          <a:ln/>
        </p:spPr>
        <p:txBody>
          <a:bodyPr wrap="square" lIns="0" tIns="0" rIns="0" bIns="0" rtlCol="0" anchor="ctr"/>
          <a:lstStyle/>
          <a:p>
            <a:pPr algn="ctr" indent="0" marL="0">
              <a:buNone/>
            </a:pPr>
            <a:r>
              <a:rPr lang="en-US" sz="1800" dirty="0">
                <a:solidFill>
                  <a:schemeClr val="accent1"/>
                </a:solidFill>
              </a:rPr>
              <a:t>→</a:t>
            </a:r>
            <a:endParaRPr lang="en-US" sz="1800" dirty="0"/>
          </a:p>
        </p:txBody>
      </p:sp>
      <p:sp>
        <p:nvSpPr>
          <p:cNvPr id="34" name="step-card-5"/>
          <p:cNvSpPr/>
          <p:nvPr/>
        </p:nvSpPr>
        <p:spPr>
          <a:xfrm>
            <a:off x="10012680" y="1554480"/>
            <a:ext cx="1645920" cy="2834640"/>
          </a:xfrm>
          <a:prstGeom prst="roundRect">
            <a:avLst>
              <a:gd name="adj" fmla="val 4444"/>
            </a:avLst>
          </a:prstGeom>
          <a:solidFill>
            <a:schemeClr val="bg2"/>
          </a:solidFill>
          <a:ln/>
        </p:spPr>
      </p:sp>
      <p:sp>
        <p:nvSpPr>
          <p:cNvPr id="35" name="step-5-circle"/>
          <p:cNvSpPr/>
          <p:nvPr/>
        </p:nvSpPr>
        <p:spPr>
          <a:xfrm>
            <a:off x="10515600" y="1783080"/>
            <a:ext cx="640080" cy="640080"/>
          </a:xfrm>
          <a:prstGeom prst="ellipse">
            <a:avLst/>
          </a:prstGeom>
          <a:solidFill>
            <a:schemeClr val="accent3"/>
          </a:solidFill>
          <a:ln/>
        </p:spPr>
      </p:sp>
      <p:pic>
        <p:nvPicPr>
          <p:cNvPr id="36" name="step-5-icon" descr="preencoded.png">    </p:cNvPr>
          <p:cNvPicPr>
            <a:picLocks noChangeAspect="1"/>
          </p:cNvPicPr>
          <p:nvPr/>
        </p:nvPicPr>
        <p:blipFill>
          <a:blip r:embed="rId6"/>
          <a:stretch>
            <a:fillRect/>
          </a:stretch>
        </p:blipFill>
        <p:spPr>
          <a:xfrm>
            <a:off x="10682021" y="1949501"/>
            <a:ext cx="307238" cy="307238"/>
          </a:xfrm>
          <a:prstGeom prst="rect">
            <a:avLst/>
          </a:prstGeom>
        </p:spPr>
      </p:pic>
      <p:sp>
        <p:nvSpPr>
          <p:cNvPr id="37" name="step-title-5"/>
          <p:cNvSpPr txBox="1"/>
          <p:nvPr/>
        </p:nvSpPr>
        <p:spPr>
          <a:xfrm>
            <a:off x="10104120" y="2560320"/>
            <a:ext cx="1463040" cy="731520"/>
          </a:xfrm>
          <a:prstGeom prst="rect">
            <a:avLst/>
          </a:prstGeom>
          <a:noFill/>
          <a:ln/>
        </p:spPr>
        <p:txBody>
          <a:bodyPr wrap="square" lIns="0" tIns="0" rIns="0" bIns="0" rtlCol="0" anchor="ctr"/>
          <a:lstStyle/>
          <a:p>
            <a:pPr algn="ctr" indent="0" marL="0">
              <a:buNone/>
            </a:pPr>
            <a:r>
              <a:rPr lang="en-US" sz="1500" b="1" dirty="0">
                <a:solidFill>
                  <a:schemeClr val="tx2"/>
                </a:solidFill>
              </a:rPr>
              <a:t>Generate &amp;</a:t>
            </a:r>
            <a:endParaRPr lang="en-US" sz="1500" dirty="0"/>
          </a:p>
          <a:p>
            <a:pPr algn="ctr" indent="0" marL="0">
              <a:buNone/>
            </a:pPr>
            <a:r>
              <a:rPr lang="en-US" sz="1500" b="1" dirty="0">
                <a:solidFill>
                  <a:schemeClr val="tx2"/>
                </a:solidFill>
              </a:rPr>
              <a:t>evaluate</a:t>
            </a:r>
            <a:endParaRPr lang="en-US" sz="1500" dirty="0"/>
          </a:p>
        </p:txBody>
      </p:sp>
      <p:sp>
        <p:nvSpPr>
          <p:cNvPr id="38" name="step-desc-5"/>
          <p:cNvSpPr txBox="1"/>
          <p:nvPr/>
        </p:nvSpPr>
        <p:spPr>
          <a:xfrm>
            <a:off x="10104120" y="3337560"/>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paired vs base</a:t>
            </a:r>
            <a:endParaRPr lang="en-US" sz="1200" dirty="0"/>
          </a:p>
          <a:p>
            <a:pPr algn="ctr" indent="0" marL="0">
              <a:buNone/>
            </a:pPr>
            <a:r>
              <a:rPr lang="en-US" sz="1200" dirty="0">
                <a:solidFill>
                  <a:schemeClr val="tx1"/>
                </a:solidFill>
              </a:rPr>
              <a:t>model</a:t>
            </a:r>
            <a:endParaRPr lang="en-US" sz="1200" dirty="0"/>
          </a:p>
        </p:txBody>
      </p:sp>
      <p:sp>
        <p:nvSpPr>
          <p:cNvPr id="39" name="bullets"/>
          <p:cNvSpPr txBox="1"/>
          <p:nvPr/>
        </p:nvSpPr>
        <p:spPr>
          <a:xfrm>
            <a:off x="548640" y="4709160"/>
            <a:ext cx="11064240" cy="15544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accent2"/>
                </a:solidFill>
              </a:rPr>
              <a:t>Milestone 1: </a:t>
            </a:r>
            <a:pPr indent="0" marL="0">
              <a:buNone/>
            </a:pPr>
            <a:r>
              <a:rPr lang="en-US" sz="1400" dirty="0">
                <a:solidFill>
                  <a:schemeClr val="tx1"/>
                </a:solidFill>
              </a:rPr>
              <a:t>first four stages (local machine, Apple M-series)</a:t>
            </a:r>
            <a:endParaRPr lang="en-US" sz="1400" dirty="0"/>
          </a:p>
          <a:p>
            <a:pPr marL="342900" indent="-342900">
              <a:spcAft>
                <a:spcPts val="800"/>
              </a:spcAft>
              <a:buSzPct val="100000"/>
              <a:buChar char="•"/>
            </a:pPr>
            <a:r>
              <a:rPr lang="en-US" sz="1400" b="1" dirty="0">
                <a:solidFill>
                  <a:schemeClr val="accent3"/>
                </a:solidFill>
              </a:rPr>
              <a:t>Milestone 2: </a:t>
            </a:r>
            <a:pPr indent="0" marL="0">
              <a:buNone/>
            </a:pPr>
            <a:r>
              <a:rPr lang="en-US" sz="1400" dirty="0">
                <a:solidFill>
                  <a:schemeClr val="tx1"/>
                </a:solidFill>
              </a:rPr>
              <a:t>LoRA training on a Colab T4 GPU, generation + evaluation; weights load back on the Mac</a:t>
            </a:r>
            <a:endParaRPr lang="en-US" sz="1400" dirty="0"/>
          </a:p>
          <a:p>
            <a:pPr marL="342900" indent="-342900">
              <a:spcAft>
                <a:spcPts val="800"/>
              </a:spcAft>
              <a:buSzPct val="100000"/>
              <a:buChar char="•"/>
            </a:pPr>
            <a:r>
              <a:rPr lang="en-US" sz="1400" b="1" dirty="0">
                <a:solidFill>
                  <a:schemeClr val="tx1"/>
                </a:solidFill>
              </a:rPr>
              <a:t>Engineering: </a:t>
            </a:r>
            <a:pPr indent="0" marL="0">
              <a:buNone/>
            </a:pPr>
            <a:r>
              <a:rPr lang="en-US" sz="1400" dirty="0">
                <a:solidFill>
                  <a:schemeClr val="tx1"/>
                </a:solidFill>
              </a:rPr>
              <a:t>YAML configs, reproducible CLI scripts, Colab notebook, 101 automated tests (99 pass, 2 run only without CLIP)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MILESTONE 1 - DATASET</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Curating 200 downloads into a clean training set</a:t>
            </a:r>
            <a:endParaRPr lang="en-US" sz="3200" dirty="0"/>
          </a:p>
        </p:txBody>
      </p:sp>
      <p:sp>
        <p:nvSpPr>
          <p:cNvPr id="4" name="funnel-n-0"/>
          <p:cNvSpPr txBox="1"/>
          <p:nvPr/>
        </p:nvSpPr>
        <p:spPr>
          <a:xfrm>
            <a:off x="548640" y="1325880"/>
            <a:ext cx="2011680" cy="86868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200</a:t>
            </a:r>
            <a:endParaRPr lang="en-US" sz="4000" dirty="0"/>
          </a:p>
        </p:txBody>
      </p:sp>
      <p:sp>
        <p:nvSpPr>
          <p:cNvPr id="5" name="funnel-l-0"/>
          <p:cNvSpPr txBox="1"/>
          <p:nvPr/>
        </p:nvSpPr>
        <p:spPr>
          <a:xfrm>
            <a:off x="2606040" y="1325880"/>
            <a:ext cx="3108960" cy="868680"/>
          </a:xfrm>
          <a:prstGeom prst="rect">
            <a:avLst/>
          </a:prstGeom>
          <a:noFill/>
          <a:ln/>
        </p:spPr>
        <p:txBody>
          <a:bodyPr wrap="square" lIns="0" tIns="0" rIns="0" bIns="0" rtlCol="0" anchor="ctr"/>
          <a:lstStyle/>
          <a:p>
            <a:pPr indent="0" marL="0">
              <a:buNone/>
            </a:pPr>
            <a:r>
              <a:rPr lang="en-US" sz="1300" dirty="0">
                <a:solidFill>
                  <a:schemeClr val="tx1"/>
                </a:solidFill>
              </a:rPr>
              <a:t>downloaded from Wikimedia Commons</a:t>
            </a:r>
            <a:endParaRPr lang="en-US" sz="1300" dirty="0"/>
          </a:p>
          <a:p>
            <a:pPr indent="0" marL="0">
              <a:buNone/>
            </a:pPr>
            <a:r>
              <a:rPr lang="en-US" sz="1300" dirty="0">
                <a:solidFill>
                  <a:schemeClr val="tx1"/>
                </a:solidFill>
              </a:rPr>
              <a:t>(193 public domain, provenance kept)</a:t>
            </a:r>
            <a:endParaRPr lang="en-US" sz="1300" dirty="0"/>
          </a:p>
        </p:txBody>
      </p:sp>
      <p:sp>
        <p:nvSpPr>
          <p:cNvPr id="6" name="funnel-n-1"/>
          <p:cNvSpPr txBox="1"/>
          <p:nvPr/>
        </p:nvSpPr>
        <p:spPr>
          <a:xfrm>
            <a:off x="548640" y="2350008"/>
            <a:ext cx="2011680" cy="86868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134</a:t>
            </a:r>
            <a:endParaRPr lang="en-US" sz="4000" dirty="0"/>
          </a:p>
        </p:txBody>
      </p:sp>
      <p:sp>
        <p:nvSpPr>
          <p:cNvPr id="7" name="funnel-l-1"/>
          <p:cNvSpPr txBox="1"/>
          <p:nvPr/>
        </p:nvSpPr>
        <p:spPr>
          <a:xfrm>
            <a:off x="2606040" y="2350008"/>
            <a:ext cx="3108960" cy="868680"/>
          </a:xfrm>
          <a:prstGeom prst="rect">
            <a:avLst/>
          </a:prstGeom>
          <a:noFill/>
          <a:ln/>
        </p:spPr>
        <p:txBody>
          <a:bodyPr wrap="square" lIns="0" tIns="0" rIns="0" bIns="0" rtlCol="0" anchor="ctr"/>
          <a:lstStyle/>
          <a:p>
            <a:pPr indent="0" marL="0">
              <a:buNone/>
            </a:pPr>
            <a:r>
              <a:rPr lang="en-US" sz="1300" dirty="0">
                <a:solidFill>
                  <a:schemeClr val="tx1"/>
                </a:solidFill>
              </a:rPr>
              <a:t>accepted after validation</a:t>
            </a:r>
            <a:endParaRPr lang="en-US" sz="1300" dirty="0"/>
          </a:p>
          <a:p>
            <a:pPr indent="0" marL="0">
              <a:buNone/>
            </a:pPr>
            <a:r>
              <a:rPr lang="en-US" sz="1300" dirty="0">
                <a:solidFill>
                  <a:schemeClr val="tx1"/>
                </a:solidFill>
              </a:rPr>
              <a:t>&amp; curation</a:t>
            </a:r>
            <a:endParaRPr lang="en-US" sz="1300" dirty="0"/>
          </a:p>
        </p:txBody>
      </p:sp>
      <p:sp>
        <p:nvSpPr>
          <p:cNvPr id="8" name="funnel-n-2"/>
          <p:cNvSpPr txBox="1"/>
          <p:nvPr/>
        </p:nvSpPr>
        <p:spPr>
          <a:xfrm>
            <a:off x="548640" y="3374136"/>
            <a:ext cx="2011680" cy="86868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122 + 12</a:t>
            </a:r>
            <a:endParaRPr lang="en-US" sz="3200" dirty="0"/>
          </a:p>
        </p:txBody>
      </p:sp>
      <p:sp>
        <p:nvSpPr>
          <p:cNvPr id="9" name="funnel-l-2"/>
          <p:cNvSpPr txBox="1"/>
          <p:nvPr/>
        </p:nvSpPr>
        <p:spPr>
          <a:xfrm>
            <a:off x="2606040" y="3374136"/>
            <a:ext cx="3108960" cy="868680"/>
          </a:xfrm>
          <a:prstGeom prst="rect">
            <a:avLst/>
          </a:prstGeom>
          <a:noFill/>
          <a:ln/>
        </p:spPr>
        <p:txBody>
          <a:bodyPr wrap="square" lIns="0" tIns="0" rIns="0" bIns="0" rtlCol="0" anchor="ctr"/>
          <a:lstStyle/>
          <a:p>
            <a:pPr indent="0" marL="0">
              <a:buNone/>
            </a:pPr>
            <a:r>
              <a:rPr lang="en-US" sz="1300" dirty="0">
                <a:solidFill>
                  <a:schemeClr val="tx1"/>
                </a:solidFill>
              </a:rPr>
              <a:t>training images +</a:t>
            </a:r>
            <a:endParaRPr lang="en-US" sz="1300" dirty="0"/>
          </a:p>
          <a:p>
            <a:pPr indent="0" marL="0">
              <a:buNone/>
            </a:pPr>
            <a:r>
              <a:rPr lang="en-US" sz="1300" dirty="0">
                <a:solidFill>
                  <a:schemeClr val="tx1"/>
                </a:solidFill>
              </a:rPr>
              <a:t>held-out evaluation set</a:t>
            </a:r>
            <a:endParaRPr lang="en-US" sz="1300" dirty="0"/>
          </a:p>
        </p:txBody>
      </p:sp>
      <p:sp>
        <p:nvSpPr>
          <p:cNvPr id="10" name="excl-head"/>
          <p:cNvSpPr txBox="1"/>
          <p:nvPr/>
        </p:nvSpPr>
        <p:spPr>
          <a:xfrm>
            <a:off x="6126480" y="1280160"/>
            <a:ext cx="5486400" cy="320040"/>
          </a:xfrm>
          <a:prstGeom prst="rect">
            <a:avLst/>
          </a:prstGeom>
          <a:noFill/>
          <a:ln/>
        </p:spPr>
        <p:txBody>
          <a:bodyPr wrap="square" lIns="0" tIns="0" rIns="0" bIns="0" rtlCol="0" anchor="ctr"/>
          <a:lstStyle/>
          <a:p>
            <a:pPr indent="0" marL="0">
              <a:buNone/>
            </a:pPr>
            <a:r>
              <a:rPr lang="en-US" sz="1600" b="1" dirty="0">
                <a:solidFill>
                  <a:schemeClr val="tx2"/>
                </a:solidFill>
              </a:rPr>
              <a:t>66 excluded, each with a recorded reason</a:t>
            </a:r>
            <a:endParaRPr lang="en-US" sz="1600" dirty="0"/>
          </a:p>
        </p:txBody>
      </p:sp>
      <p:sp>
        <p:nvSpPr>
          <p:cNvPr id="11" name="bullets"/>
          <p:cNvSpPr txBox="1"/>
          <p:nvPr/>
        </p:nvSpPr>
        <p:spPr>
          <a:xfrm>
            <a:off x="6126480" y="1691640"/>
            <a:ext cx="5486400" cy="137160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26 upscaled copies </a:t>
            </a:r>
            <a:pPr indent="0" marL="0">
              <a:buNone/>
            </a:pPr>
            <a:r>
              <a:rPr lang="en-US" sz="1400" dirty="0">
                <a:solidFill>
                  <a:schemeClr val="tx1"/>
                </a:solidFill>
              </a:rPr>
              <a:t>- originals as small as 200 px (checked against Commons)</a:t>
            </a:r>
            <a:endParaRPr lang="en-US" sz="1400" dirty="0"/>
          </a:p>
          <a:p>
            <a:pPr marL="342900" indent="-342900">
              <a:spcAft>
                <a:spcPts val="800"/>
              </a:spcAft>
              <a:buSzPct val="100000"/>
              <a:buChar char="•"/>
            </a:pPr>
            <a:r>
              <a:rPr lang="en-US" sz="1400" b="1" dirty="0">
                <a:solidFill>
                  <a:schemeClr val="tx1"/>
                </a:solidFill>
              </a:rPr>
              <a:t>33 duplicates </a:t>
            </a:r>
            <a:pPr indent="0" marL="0">
              <a:buNone/>
            </a:pPr>
            <a:r>
              <a:rPr lang="en-US" sz="1400" dirty="0">
                <a:solidFill>
                  <a:schemeClr val="tx1"/>
                </a:solidFill>
              </a:rPr>
              <a:t>- same artwork as prints/crops/re-scans; best copy kept</a:t>
            </a:r>
            <a:endParaRPr lang="en-US" sz="1400" dirty="0"/>
          </a:p>
          <a:p>
            <a:pPr marL="342900" indent="-342900">
              <a:spcAft>
                <a:spcPts val="800"/>
              </a:spcAft>
              <a:buSzPct val="100000"/>
              <a:buChar char="•"/>
            </a:pPr>
            <a:r>
              <a:rPr lang="en-US" sz="1400" b="1" dirty="0">
                <a:solidFill>
                  <a:schemeClr val="tx1"/>
                </a:solidFill>
              </a:rPr>
              <a:t>7 non-paintings </a:t>
            </a:r>
            <a:pPr indent="0" marL="0">
              <a:buNone/>
            </a:pPr>
            <a:r>
              <a:rPr lang="en-US" sz="1400" dirty="0">
                <a:solidFill>
                  <a:schemeClr val="tx1"/>
                </a:solidFill>
              </a:rPr>
              <a:t>- stamps, gallery photos, panel grids, text labels</a:t>
            </a:r>
            <a:endParaRPr lang="en-US" sz="1400" dirty="0"/>
          </a:p>
        </p:txBody>
      </p:sp>
      <p:pic>
        <p:nvPicPr>
          <p:cNvPr id="12" name="excluded-examples" descr="/private/tmp/claude-501/-Users-shashwatsahu-Desktop-the-next-ravi-varma/b50e4b20-09e3-45d0-8877-560ccb85868c/scratchpad/deck/assets/excluded.jpg">    </p:cNvPr>
          <p:cNvPicPr>
            <a:picLocks noChangeAspect="1"/>
          </p:cNvPicPr>
          <p:nvPr/>
        </p:nvPicPr>
        <p:blipFill>
          <a:blip r:embed="rId1"/>
          <a:stretch>
            <a:fillRect/>
          </a:stretch>
        </p:blipFill>
        <p:spPr>
          <a:xfrm>
            <a:off x="6126480" y="3063240"/>
            <a:ext cx="5486400" cy="1645920"/>
          </a:xfrm>
          <a:prstGeom prst="rect">
            <a:avLst/>
          </a:prstGeom>
        </p:spPr>
      </p:pic>
      <p:sp>
        <p:nvSpPr>
          <p:cNvPr id="13" name="caption"/>
          <p:cNvSpPr txBox="1"/>
          <p:nvPr/>
        </p:nvSpPr>
        <p:spPr>
          <a:xfrm>
            <a:off x="6126480" y="4727448"/>
            <a:ext cx="5486400" cy="274320"/>
          </a:xfrm>
          <a:prstGeom prst="rect">
            <a:avLst/>
          </a:prstGeom>
          <a:noFill/>
          <a:ln/>
        </p:spPr>
        <p:txBody>
          <a:bodyPr wrap="square" lIns="0" tIns="0" rIns="0" bIns="0" rtlCol="0" anchor="ctr"/>
          <a:lstStyle/>
          <a:p>
            <a:pPr algn="ctr" indent="0" marL="0">
              <a:buNone/>
            </a:pPr>
            <a:r>
              <a:rPr lang="en-US" sz="1000" dirty="0">
                <a:solidFill>
                  <a:schemeClr val="accent4"/>
                </a:solidFill>
              </a:rPr>
              <a:t>Excluded: postage stamp | gallery photo | multi-panel grid | 200 px original upscaled</a:t>
            </a:r>
            <a:endParaRPr lang="en-US" sz="1000" dirty="0"/>
          </a:p>
        </p:txBody>
      </p:sp>
      <p:pic>
        <p:nvPicPr>
          <p:cNvPr id="14" name="training-mosaic" descr="/private/tmp/claude-501/-Users-shashwatsahu-Desktop-the-next-ravi-varma/b50e4b20-09e3-45d0-8877-560ccb85868c/scratchpad/deck/assets/mosaic.jpg">    </p:cNvPr>
          <p:cNvPicPr>
            <a:picLocks noChangeAspect="1"/>
          </p:cNvPicPr>
          <p:nvPr/>
        </p:nvPicPr>
        <p:blipFill>
          <a:blip r:embed="rId2"/>
          <a:srcRect l="0" r="0" t="0" b="0"/>
          <a:stretch/>
        </p:blipFill>
        <p:spPr>
          <a:xfrm>
            <a:off x="548640" y="4526280"/>
            <a:ext cx="5212080" cy="1691640"/>
          </a:xfrm>
          <a:prstGeom prst="rect">
            <a:avLst/>
          </a:prstGeom>
        </p:spPr>
      </p:pic>
      <p:sp>
        <p:nvSpPr>
          <p:cNvPr id="15" name="bucket-note"/>
          <p:cNvSpPr txBox="1"/>
          <p:nvPr/>
        </p:nvSpPr>
        <p:spPr>
          <a:xfrm>
            <a:off x="6126480" y="5120640"/>
            <a:ext cx="5486400" cy="822960"/>
          </a:xfrm>
          <a:prstGeom prst="rect">
            <a:avLst/>
          </a:prstGeom>
          <a:noFill/>
          <a:ln/>
        </p:spPr>
        <p:txBody>
          <a:bodyPr wrap="square" lIns="0" tIns="0" rIns="0" bIns="0" rtlCol="0" anchor="ctr"/>
          <a:lstStyle/>
          <a:p>
            <a:pPr indent="0" marL="0">
              <a:buNone/>
            </a:pPr>
            <a:r>
              <a:rPr lang="en-US" sz="1300" i="1" dirty="0">
                <a:solidFill>
                  <a:schemeClr val="accent4"/>
                </a:solidFill>
              </a:rPr>
              <a:t>Aspect-ratio buckets (e.g. 448x640) instead of square crops: heads and feet are no longer cut off.</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MILESTONE 1 - CAPTIONS</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Structured captions from a vision-language model</a:t>
            </a:r>
            <a:endParaRPr lang="en-US" sz="3200" dirty="0"/>
          </a:p>
        </p:txBody>
      </p:sp>
      <p:pic>
        <p:nvPicPr>
          <p:cNvPr id="4" name="caption-image" descr="/private/tmp/claude-501/-Users-shashwatsahu-Desktop-the-next-ravi-varma/b50e4b20-09e3-45d0-8877-560ccb85868c/scratchpad/deck/assets/caption_example.jpg">    </p:cNvPr>
          <p:cNvPicPr>
            <a:picLocks noChangeAspect="1"/>
          </p:cNvPicPr>
          <p:nvPr/>
        </p:nvPicPr>
        <p:blipFill>
          <a:blip r:embed="rId1"/>
          <a:stretch>
            <a:fillRect/>
          </a:stretch>
        </p:blipFill>
        <p:spPr>
          <a:xfrm>
            <a:off x="548640" y="1280160"/>
            <a:ext cx="2715768" cy="4526280"/>
          </a:xfrm>
          <a:prstGeom prst="rect">
            <a:avLst/>
          </a:prstGeom>
        </p:spPr>
      </p:pic>
      <p:sp>
        <p:nvSpPr>
          <p:cNvPr id="5" name="caption-card"/>
          <p:cNvSpPr/>
          <p:nvPr/>
        </p:nvSpPr>
        <p:spPr>
          <a:xfrm>
            <a:off x="3611880" y="1280160"/>
            <a:ext cx="8001000" cy="1600200"/>
          </a:xfrm>
          <a:prstGeom prst="roundRect">
            <a:avLst>
              <a:gd name="adj" fmla="val 4571"/>
            </a:avLst>
          </a:prstGeom>
          <a:solidFill>
            <a:schemeClr val="bg2"/>
          </a:solidFill>
          <a:ln/>
        </p:spPr>
      </p:sp>
      <p:sp>
        <p:nvSpPr>
          <p:cNvPr id="6" name="caption-text"/>
          <p:cNvSpPr txBox="1"/>
          <p:nvPr/>
        </p:nvSpPr>
        <p:spPr>
          <a:xfrm>
            <a:off x="3840480" y="1371600"/>
            <a:ext cx="7589520" cy="1417320"/>
          </a:xfrm>
          <a:prstGeom prst="rect">
            <a:avLst/>
          </a:prstGeom>
          <a:noFill/>
          <a:ln/>
        </p:spPr>
        <p:txBody>
          <a:bodyPr wrap="square" lIns="0" tIns="0" rIns="0" bIns="0" rtlCol="0" anchor="t"/>
          <a:lstStyle/>
          <a:p>
            <a:pPr indent="0" marL="0">
              <a:buNone/>
            </a:pPr>
            <a:r>
              <a:rPr lang="en-US" sz="1300" b="1" dirty="0">
                <a:solidFill>
                  <a:schemeClr val="accent1"/>
                </a:solidFill>
              </a:rPr>
              <a:t>Training caption (real, from the manifest)</a:t>
            </a:r>
            <a:endParaRPr lang="en-US" sz="1300" dirty="0"/>
          </a:p>
          <a:p>
            <a:pPr indent="0" marL="0">
              <a:buNone/>
            </a:pPr>
            <a:r>
              <a:rPr lang="en-US" sz="1400" i="1" dirty="0">
                <a:solidFill>
                  <a:schemeClr val="tx1"/>
                </a:solidFill>
              </a:rPr>
              <a:t>&lt;rvvarma&gt;, Hamsa Damayanti, a woman in a red sari feeding a white swan, wearing red dress, necklace jewelry, sitting, calm expression, in park, single-figure composition, vertical format, mid-tone lighting, warm red and ochre palette</a:t>
            </a:r>
            <a:endParaRPr lang="en-US" sz="1300" dirty="0"/>
          </a:p>
        </p:txBody>
      </p:sp>
      <p:sp>
        <p:nvSpPr>
          <p:cNvPr id="7" name="bullets"/>
          <p:cNvSpPr txBox="1"/>
          <p:nvPr/>
        </p:nvSpPr>
        <p:spPr>
          <a:xfrm>
            <a:off x="3611880" y="3108960"/>
            <a:ext cx="8001000" cy="31089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BLIP-large </a:t>
            </a:r>
            <a:pPr indent="0" marL="0">
              <a:buNone/>
            </a:pPr>
            <a:r>
              <a:rPr lang="en-US" sz="1400" dirty="0">
                <a:solidFill>
                  <a:schemeClr val="tx1"/>
                </a:solidFill>
              </a:rPr>
              <a:t>writes the scene sentence; </a:t>
            </a:r>
            <a:pPr indent="0" marL="0">
              <a:buNone/>
            </a:pPr>
            <a:r>
              <a:rPr lang="en-US" sz="1400" b="1" dirty="0">
                <a:solidFill>
                  <a:schemeClr val="tx1"/>
                </a:solidFill>
              </a:rPr>
              <a:t>BLIP-VQA </a:t>
            </a:r>
            <a:pPr indent="0" marL="0">
              <a:buNone/>
            </a:pPr>
            <a:r>
              <a:rPr lang="en-US" sz="1400" dirty="0">
                <a:solidFill>
                  <a:schemeClr val="tx1"/>
                </a:solidFill>
              </a:rPr>
              <a:t>answers a fixed template: people, clothing, colour, jewelry, pose, action, expression, objects, setting, day/night.</a:t>
            </a:r>
            <a:endParaRPr lang="en-US" sz="1400" dirty="0"/>
          </a:p>
          <a:p>
            <a:pPr marL="342900" indent="-342900">
              <a:spcAft>
                <a:spcPts val="800"/>
              </a:spcAft>
              <a:buSzPct val="100000"/>
              <a:buChar char="•"/>
            </a:pPr>
            <a:r>
              <a:rPr lang="en-US" sz="1400" b="1" dirty="0">
                <a:solidFill>
                  <a:schemeClr val="tx1"/>
                </a:solidFill>
              </a:rPr>
              <a:t>Grounded, not guessed: </a:t>
            </a:r>
            <a:pPr indent="0" marL="0">
              <a:buNone/>
            </a:pPr>
            <a:r>
              <a:rPr lang="en-US" sz="1400" dirty="0">
                <a:solidFill>
                  <a:schemeClr val="tx1"/>
                </a:solidFill>
              </a:rPr>
              <a:t>follow-ups are gated ("what jewelry?" only if "wearing jewelry?" = yes); non-answers and anachronisms ("phone", "smoking") are filtered; all Q&amp;A saved for audit.</a:t>
            </a:r>
            <a:endParaRPr lang="en-US" sz="1400" dirty="0"/>
          </a:p>
          <a:p>
            <a:pPr marL="342900" indent="-342900">
              <a:spcAft>
                <a:spcPts val="800"/>
              </a:spcAft>
              <a:buSzPct val="100000"/>
              <a:buChar char="•"/>
            </a:pPr>
            <a:r>
              <a:rPr lang="en-US" sz="1400" b="1" dirty="0">
                <a:solidFill>
                  <a:schemeClr val="tx1"/>
                </a:solidFill>
              </a:rPr>
              <a:t>Style left to the trigger token: </a:t>
            </a:r>
            <a:pPr indent="0" marL="0">
              <a:buNone/>
            </a:pPr>
            <a:r>
              <a:rPr lang="en-US" sz="1400" dirty="0">
                <a:solidFill>
                  <a:schemeClr val="tx1"/>
                </a:solidFill>
              </a:rPr>
              <a:t>captions describe content, so &lt;rvvarma&gt; absorbs the painterly style; frames are named so they are not learned.</a:t>
            </a:r>
            <a:endParaRPr lang="en-US" sz="1400" dirty="0"/>
          </a:p>
          <a:p>
            <a:pPr marL="342900" indent="-342900">
              <a:spcAft>
                <a:spcPts val="800"/>
              </a:spcAft>
              <a:buSzPct val="100000"/>
              <a:buChar char="•"/>
            </a:pPr>
            <a:r>
              <a:rPr lang="en-US" sz="1400" b="1" dirty="0">
                <a:solidFill>
                  <a:schemeClr val="tx1"/>
                </a:solidFill>
              </a:rPr>
              <a:t>Fits CLIP's 77-token limit; </a:t>
            </a:r>
            <a:pPr indent="0" marL="0">
              <a:buNone/>
            </a:pPr>
            <a:r>
              <a:rPr lang="en-US" sz="1400" dirty="0">
                <a:solidFill>
                  <a:schemeClr val="tx1"/>
                </a:solidFill>
              </a:rPr>
              <a:t>134 images captioned in 29 min on a laptop.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MILESTONE 2 - TRAINING</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LoRA fine-tuning on a Colab T4 GPU</a:t>
            </a:r>
            <a:endParaRPr lang="en-US" sz="3200" dirty="0"/>
          </a:p>
        </p:txBody>
      </p:sp>
      <p:sp>
        <p:nvSpPr>
          <p:cNvPr id="4" name="stat-card-0"/>
          <p:cNvSpPr/>
          <p:nvPr/>
        </p:nvSpPr>
        <p:spPr>
          <a:xfrm>
            <a:off x="548640" y="1325880"/>
            <a:ext cx="2560320" cy="1600200"/>
          </a:xfrm>
          <a:prstGeom prst="roundRect">
            <a:avLst>
              <a:gd name="adj" fmla="val 4571"/>
            </a:avLst>
          </a:prstGeom>
          <a:solidFill>
            <a:schemeClr val="bg2"/>
          </a:solidFill>
          <a:ln/>
        </p:spPr>
      </p:sp>
      <p:sp>
        <p:nvSpPr>
          <p:cNvPr id="5" name="stat-n-0"/>
          <p:cNvSpPr txBox="1"/>
          <p:nvPr/>
        </p:nvSpPr>
        <p:spPr>
          <a:xfrm>
            <a:off x="548640" y="1417320"/>
            <a:ext cx="2560320" cy="82296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1500</a:t>
            </a:r>
            <a:endParaRPr lang="en-US" sz="3600" dirty="0"/>
          </a:p>
        </p:txBody>
      </p:sp>
      <p:sp>
        <p:nvSpPr>
          <p:cNvPr id="6" name="stat-l-0"/>
          <p:cNvSpPr txBox="1"/>
          <p:nvPr/>
        </p:nvSpPr>
        <p:spPr>
          <a:xfrm>
            <a:off x="548640" y="2240280"/>
            <a:ext cx="2560320" cy="640080"/>
          </a:xfrm>
          <a:prstGeom prst="rect">
            <a:avLst/>
          </a:prstGeom>
          <a:noFill/>
          <a:ln/>
        </p:spPr>
        <p:txBody>
          <a:bodyPr wrap="square" lIns="0" tIns="0" rIns="0" bIns="0" rtlCol="0" anchor="t"/>
          <a:lstStyle/>
          <a:p>
            <a:pPr algn="ctr" indent="0" marL="0">
              <a:buNone/>
            </a:pPr>
            <a:r>
              <a:rPr lang="en-US" sz="1300" dirty="0">
                <a:solidFill>
                  <a:schemeClr val="tx1"/>
                </a:solidFill>
              </a:rPr>
              <a:t>optimizer steps</a:t>
            </a:r>
            <a:endParaRPr lang="en-US" sz="1300" dirty="0"/>
          </a:p>
          <a:p>
            <a:pPr algn="ctr" indent="0" marL="0">
              <a:buNone/>
            </a:pPr>
            <a:r>
              <a:rPr lang="en-US" sz="1300" dirty="0">
                <a:solidFill>
                  <a:schemeClr val="tx1"/>
                </a:solidFill>
              </a:rPr>
              <a:t>(~49 epochs)</a:t>
            </a:r>
            <a:endParaRPr lang="en-US" sz="1300" dirty="0"/>
          </a:p>
        </p:txBody>
      </p:sp>
      <p:sp>
        <p:nvSpPr>
          <p:cNvPr id="7" name="stat-card-1"/>
          <p:cNvSpPr/>
          <p:nvPr/>
        </p:nvSpPr>
        <p:spPr>
          <a:xfrm>
            <a:off x="3383280" y="1325880"/>
            <a:ext cx="2560320" cy="1600200"/>
          </a:xfrm>
          <a:prstGeom prst="roundRect">
            <a:avLst>
              <a:gd name="adj" fmla="val 4571"/>
            </a:avLst>
          </a:prstGeom>
          <a:solidFill>
            <a:schemeClr val="bg2"/>
          </a:solidFill>
          <a:ln/>
        </p:spPr>
      </p:sp>
      <p:sp>
        <p:nvSpPr>
          <p:cNvPr id="8" name="stat-n-1"/>
          <p:cNvSpPr txBox="1"/>
          <p:nvPr/>
        </p:nvSpPr>
        <p:spPr>
          <a:xfrm>
            <a:off x="3383280" y="1417320"/>
            <a:ext cx="2560320" cy="82296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58 min</a:t>
            </a:r>
            <a:endParaRPr lang="en-US" sz="3600" dirty="0"/>
          </a:p>
        </p:txBody>
      </p:sp>
      <p:sp>
        <p:nvSpPr>
          <p:cNvPr id="9" name="stat-l-1"/>
          <p:cNvSpPr txBox="1"/>
          <p:nvPr/>
        </p:nvSpPr>
        <p:spPr>
          <a:xfrm>
            <a:off x="3383280" y="2240280"/>
            <a:ext cx="2560320" cy="640080"/>
          </a:xfrm>
          <a:prstGeom prst="rect">
            <a:avLst/>
          </a:prstGeom>
          <a:noFill/>
          <a:ln/>
        </p:spPr>
        <p:txBody>
          <a:bodyPr wrap="square" lIns="0" tIns="0" rIns="0" bIns="0" rtlCol="0" anchor="t"/>
          <a:lstStyle/>
          <a:p>
            <a:pPr algn="ctr" indent="0" marL="0">
              <a:buNone/>
            </a:pPr>
            <a:r>
              <a:rPr lang="en-US" sz="1300" dirty="0">
                <a:solidFill>
                  <a:schemeClr val="tx1"/>
                </a:solidFill>
              </a:rPr>
              <a:t>on one Tesla T4</a:t>
            </a:r>
            <a:endParaRPr lang="en-US" sz="1300" dirty="0"/>
          </a:p>
          <a:p>
            <a:pPr algn="ctr" indent="0" marL="0">
              <a:buNone/>
            </a:pPr>
            <a:r>
              <a:rPr lang="en-US" sz="1300" dirty="0">
                <a:solidFill>
                  <a:schemeClr val="tx1"/>
                </a:solidFill>
              </a:rPr>
              <a:t>(fp16)</a:t>
            </a:r>
            <a:endParaRPr lang="en-US" sz="1300" dirty="0"/>
          </a:p>
        </p:txBody>
      </p:sp>
      <p:sp>
        <p:nvSpPr>
          <p:cNvPr id="10" name="stat-card-2"/>
          <p:cNvSpPr/>
          <p:nvPr/>
        </p:nvSpPr>
        <p:spPr>
          <a:xfrm>
            <a:off x="6217920" y="1325880"/>
            <a:ext cx="2560320" cy="1600200"/>
          </a:xfrm>
          <a:prstGeom prst="roundRect">
            <a:avLst>
              <a:gd name="adj" fmla="val 4571"/>
            </a:avLst>
          </a:prstGeom>
          <a:solidFill>
            <a:schemeClr val="bg2"/>
          </a:solidFill>
          <a:ln/>
        </p:spPr>
      </p:sp>
      <p:sp>
        <p:nvSpPr>
          <p:cNvPr id="11" name="stat-n-2"/>
          <p:cNvSpPr txBox="1"/>
          <p:nvPr/>
        </p:nvSpPr>
        <p:spPr>
          <a:xfrm>
            <a:off x="6217920" y="1417320"/>
            <a:ext cx="2560320" cy="82296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3.2M</a:t>
            </a:r>
            <a:endParaRPr lang="en-US" sz="3600" dirty="0"/>
          </a:p>
        </p:txBody>
      </p:sp>
      <p:sp>
        <p:nvSpPr>
          <p:cNvPr id="12" name="stat-l-2"/>
          <p:cNvSpPr txBox="1"/>
          <p:nvPr/>
        </p:nvSpPr>
        <p:spPr>
          <a:xfrm>
            <a:off x="6217920" y="2240280"/>
            <a:ext cx="2560320" cy="640080"/>
          </a:xfrm>
          <a:prstGeom prst="rect">
            <a:avLst/>
          </a:prstGeom>
          <a:noFill/>
          <a:ln/>
        </p:spPr>
        <p:txBody>
          <a:bodyPr wrap="square" lIns="0" tIns="0" rIns="0" bIns="0" rtlCol="0" anchor="t"/>
          <a:lstStyle/>
          <a:p>
            <a:pPr algn="ctr" indent="0" marL="0">
              <a:buNone/>
            </a:pPr>
            <a:r>
              <a:rPr lang="en-US" sz="1300" dirty="0">
                <a:solidFill>
                  <a:schemeClr val="tx1"/>
                </a:solidFill>
              </a:rPr>
              <a:t>trainable params</a:t>
            </a:r>
            <a:endParaRPr lang="en-US" sz="1300" dirty="0"/>
          </a:p>
          <a:p>
            <a:pPr algn="ctr" indent="0" marL="0">
              <a:buNone/>
            </a:pPr>
            <a:r>
              <a:rPr lang="en-US" sz="1300" dirty="0">
                <a:solidFill>
                  <a:schemeClr val="tx1"/>
                </a:solidFill>
              </a:rPr>
              <a:t>(0.37% of UNet)</a:t>
            </a:r>
            <a:endParaRPr lang="en-US" sz="1300" dirty="0"/>
          </a:p>
        </p:txBody>
      </p:sp>
      <p:sp>
        <p:nvSpPr>
          <p:cNvPr id="13" name="stat-card-3"/>
          <p:cNvSpPr/>
          <p:nvPr/>
        </p:nvSpPr>
        <p:spPr>
          <a:xfrm>
            <a:off x="9052560" y="1325880"/>
            <a:ext cx="2560320" cy="1600200"/>
          </a:xfrm>
          <a:prstGeom prst="roundRect">
            <a:avLst>
              <a:gd name="adj" fmla="val 4571"/>
            </a:avLst>
          </a:prstGeom>
          <a:solidFill>
            <a:schemeClr val="bg2"/>
          </a:solidFill>
          <a:ln/>
        </p:spPr>
      </p:sp>
      <p:sp>
        <p:nvSpPr>
          <p:cNvPr id="14" name="stat-n-3"/>
          <p:cNvSpPr txBox="1"/>
          <p:nvPr/>
        </p:nvSpPr>
        <p:spPr>
          <a:xfrm>
            <a:off x="9052560" y="1417320"/>
            <a:ext cx="2560320" cy="82296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12.8 MB</a:t>
            </a:r>
            <a:endParaRPr lang="en-US" sz="3600" dirty="0"/>
          </a:p>
        </p:txBody>
      </p:sp>
      <p:sp>
        <p:nvSpPr>
          <p:cNvPr id="15" name="stat-l-3"/>
          <p:cNvSpPr txBox="1"/>
          <p:nvPr/>
        </p:nvSpPr>
        <p:spPr>
          <a:xfrm>
            <a:off x="9052560" y="2240280"/>
            <a:ext cx="2560320" cy="640080"/>
          </a:xfrm>
          <a:prstGeom prst="rect">
            <a:avLst/>
          </a:prstGeom>
          <a:noFill/>
          <a:ln/>
        </p:spPr>
        <p:txBody>
          <a:bodyPr wrap="square" lIns="0" tIns="0" rIns="0" bIns="0" rtlCol="0" anchor="t"/>
          <a:lstStyle/>
          <a:p>
            <a:pPr algn="ctr" indent="0" marL="0">
              <a:buNone/>
            </a:pPr>
            <a:r>
              <a:rPr lang="en-US" sz="1300" dirty="0">
                <a:solidFill>
                  <a:schemeClr val="tx1"/>
                </a:solidFill>
              </a:rPr>
              <a:t>final LoRA</a:t>
            </a:r>
            <a:endParaRPr lang="en-US" sz="1300" dirty="0"/>
          </a:p>
          <a:p>
            <a:pPr algn="ctr" indent="0" marL="0">
              <a:buNone/>
            </a:pPr>
            <a:r>
              <a:rPr lang="en-US" sz="1300" dirty="0">
                <a:solidFill>
                  <a:schemeClr val="tx1"/>
                </a:solidFill>
              </a:rPr>
              <a:t>weights file</a:t>
            </a:r>
            <a:endParaRPr lang="en-US" sz="1300" dirty="0"/>
          </a:p>
        </p:txBody>
      </p:sp>
      <p:graphicFrame>
        <p:nvGraphicFramePr>
          <p:cNvPr id="8" name="config-table"/>
          <p:cNvGraphicFramePr>
            <a:graphicFrameLocks noGrp="1"/>
          </p:cNvGraphicFramePr>
          <p:nvPr>
            <p:extLst>
              <p:ext uri="{D42A27DB-BD31-4B8C-83A1-F6EECF244321}">
                <p14:modId xmlns:p14="http://schemas.microsoft.com/office/powerpoint/2010/main" val="1579011935"/>
              </p:ext>
            </p:extLst>
          </p:nvPr>
        </p:nvGraphicFramePr>
        <p:xfrm>
          <a:off x="548640" y="3246120"/>
          <a:ext cx="5852160" cy="914400"/>
        </p:xfrm>
        <a:graphic>
          <a:graphicData uri="http://schemas.openxmlformats.org/drawingml/2006/table">
            <a:tbl>
              <a:tblPr/>
              <a:tblGrid>
                <a:gridCol w="2743200"/>
                <a:gridCol w="3108960"/>
              </a:tblGrid>
              <a:tr h="384048">
                <a:tc>
                  <a:txBody>
                    <a:bodyPr/>
                    <a:lstStyle/>
                    <a:p>
                      <a:pPr indent="0" marL="0">
                        <a:buNone/>
                      </a:pPr>
                      <a:r>
                        <a:rPr lang="en-US" sz="1300" b="1" dirty="0">
                          <a:solidFill>
                            <a:schemeClr val="bg1"/>
                          </a:solidFill>
                        </a:rPr>
                        <a:t>Setting</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Value</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rPr>
                        <a:t>Base model</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c>
                  <a:txBody>
                    <a:bodyPr/>
                    <a:lstStyle/>
                    <a:p>
                      <a:pPr indent="0" marL="0">
                        <a:buNone/>
                      </a:pPr>
                      <a:r>
                        <a:rPr lang="en-US" sz="1300" dirty="0">
                          <a:solidFill>
                            <a:schemeClr val="tx1"/>
                          </a:solidFill>
                        </a:rPr>
                        <a:t>Stable Diffusion 1.5 (frozen)</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r>
              <a:tr h="384048">
                <a:tc>
                  <a:txBody>
                    <a:bodyPr/>
                    <a:lstStyle/>
                    <a:p>
                      <a:pPr indent="0" marL="0">
                        <a:buNone/>
                      </a:pPr>
                      <a:r>
                        <a:rPr lang="en-US" sz="1300" dirty="0">
                          <a:solidFill>
                            <a:schemeClr val="tx1"/>
                          </a:solidFill>
                        </a:rPr>
                        <a:t>LoRA rank / alpha / dropout</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c>
                  <a:txBody>
                    <a:bodyPr/>
                    <a:lstStyle/>
                    <a:p>
                      <a:pPr indent="0" marL="0">
                        <a:buNone/>
                      </a:pPr>
                      <a:r>
                        <a:rPr lang="en-US" sz="1300" dirty="0">
                          <a:solidFill>
                            <a:schemeClr val="tx1"/>
                          </a:solidFill>
                        </a:rPr>
                        <a:t>16 / 16 / 0.05</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r>
              <a:tr h="384048">
                <a:tc>
                  <a:txBody>
                    <a:bodyPr/>
                    <a:lstStyle/>
                    <a:p>
                      <a:pPr indent="0" marL="0">
                        <a:buNone/>
                      </a:pPr>
                      <a:r>
                        <a:rPr lang="en-US" sz="1300" dirty="0">
                          <a:solidFill>
                            <a:schemeClr val="tx1"/>
                          </a:solidFill>
                        </a:rPr>
                        <a:t>Target modules</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c>
                  <a:txBody>
                    <a:bodyPr/>
                    <a:lstStyle/>
                    <a:p>
                      <a:pPr indent="0" marL="0">
                        <a:buNone/>
                      </a:pPr>
                      <a:r>
                        <a:rPr lang="en-US" sz="1300" dirty="0">
                          <a:solidFill>
                            <a:schemeClr val="tx1"/>
                          </a:solidFill>
                        </a:rPr>
                        <a:t>to_q, to_k, to_v, to_out.0</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r>
              <a:tr h="384048">
                <a:tc>
                  <a:txBody>
                    <a:bodyPr/>
                    <a:lstStyle/>
                    <a:p>
                      <a:pPr indent="0" marL="0">
                        <a:buNone/>
                      </a:pPr>
                      <a:r>
                        <a:rPr lang="en-US" sz="1300" dirty="0">
                          <a:solidFill>
                            <a:schemeClr val="tx1"/>
                          </a:solidFill>
                        </a:rPr>
                        <a:t>Learning rate</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c>
                  <a:txBody>
                    <a:bodyPr/>
                    <a:lstStyle/>
                    <a:p>
                      <a:pPr indent="0" marL="0">
                        <a:buNone/>
                      </a:pPr>
                      <a:r>
                        <a:rPr lang="en-US" sz="1300" dirty="0">
                          <a:solidFill>
                            <a:schemeClr val="tx1"/>
                          </a:solidFill>
                        </a:rPr>
                        <a:t>1e-4, 100 warm-up steps</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r>
              <a:tr h="384048">
                <a:tc>
                  <a:txBody>
                    <a:bodyPr/>
                    <a:lstStyle/>
                    <a:p>
                      <a:pPr indent="0" marL="0">
                        <a:buNone/>
                      </a:pPr>
                      <a:r>
                        <a:rPr lang="en-US" sz="1300" dirty="0">
                          <a:solidFill>
                            <a:schemeClr val="tx1"/>
                          </a:solidFill>
                        </a:rPr>
                        <a:t>Batch x grad. accumulation</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c>
                  <a:txBody>
                    <a:bodyPr/>
                    <a:lstStyle/>
                    <a:p>
                      <a:pPr indent="0" marL="0">
                        <a:buNone/>
                      </a:pPr>
                      <a:r>
                        <a:rPr lang="en-US" sz="1300" dirty="0">
                          <a:solidFill>
                            <a:schemeClr val="tx1"/>
                          </a:solidFill>
                        </a:rPr>
                        <a:t>1 x 4, seed 42</a:t>
                      </a:r>
                      <a:endParaRPr lang="en-US" sz="1300" dirty="0"/>
                    </a:p>
                  </a:txBody>
                  <a:tcPr marL="91440" marR="91440" marT="45720" marB="45720">
                    <a:lnL w="6350" cap="flat" cmpd="sng" algn="ctr">
                      <a:solidFill>
                        <a:srgbClr val="F2EDE6"/>
                      </a:solidFill>
                      <a:prstDash val="solid"/>
                      <a:round/>
                      <a:headEnd type="none" w="med" len="med"/>
                      <a:tailEnd type="none" w="med" len="med"/>
                    </a:lnL>
                    <a:lnR w="6350" cap="flat" cmpd="sng" algn="ctr">
                      <a:solidFill>
                        <a:srgbClr val="F2EDE6"/>
                      </a:solidFill>
                      <a:prstDash val="solid"/>
                      <a:round/>
                      <a:headEnd type="none" w="med" len="med"/>
                      <a:tailEnd type="none" w="med" len="med"/>
                    </a:lnR>
                    <a:lnT w="6350" cap="flat" cmpd="sng" algn="ctr">
                      <a:solidFill>
                        <a:srgbClr val="F2EDE6"/>
                      </a:solidFill>
                      <a:prstDash val="solid"/>
                      <a:round/>
                      <a:headEnd type="none" w="med" len="med"/>
                      <a:tailEnd type="none" w="med" len="med"/>
                    </a:lnT>
                    <a:lnB w="6350" cap="flat" cmpd="sng" algn="ctr">
                      <a:solidFill>
                        <a:srgbClr val="F2EDE6"/>
                      </a:solidFill>
                      <a:prstDash val="solid"/>
                      <a:round/>
                      <a:headEnd type="none" w="med" len="med"/>
                      <a:tailEnd type="none" w="med" len="med"/>
                    </a:lnB>
                  </a:tcPr>
                </a:tc>
              </a:tr>
            </a:tbl>
          </a:graphicData>
        </a:graphic>
      </p:graphicFrame>
      <p:sp>
        <p:nvSpPr>
          <p:cNvPr id="17" name="fixes-head"/>
          <p:cNvSpPr txBox="1"/>
          <p:nvPr/>
        </p:nvSpPr>
        <p:spPr>
          <a:xfrm>
            <a:off x="6766560" y="3246120"/>
            <a:ext cx="4846320" cy="320040"/>
          </a:xfrm>
          <a:prstGeom prst="rect">
            <a:avLst/>
          </a:prstGeom>
          <a:noFill/>
          <a:ln/>
        </p:spPr>
        <p:txBody>
          <a:bodyPr wrap="square" lIns="0" tIns="0" rIns="0" bIns="0" rtlCol="0" anchor="ctr"/>
          <a:lstStyle/>
          <a:p>
            <a:pPr indent="0" marL="0">
              <a:buNone/>
            </a:pPr>
            <a:r>
              <a:rPr lang="en-US" sz="1600" b="1" dirty="0">
                <a:solidFill>
                  <a:schemeClr val="tx2"/>
                </a:solidFill>
              </a:rPr>
              <a:t>Fixed along the way</a:t>
            </a:r>
            <a:endParaRPr lang="en-US" sz="1600" dirty="0"/>
          </a:p>
        </p:txBody>
      </p:sp>
      <p:sp>
        <p:nvSpPr>
          <p:cNvPr id="18" name="bullets"/>
          <p:cNvSpPr txBox="1"/>
          <p:nvPr/>
        </p:nvSpPr>
        <p:spPr>
          <a:xfrm>
            <a:off x="6766560" y="3657600"/>
            <a:ext cx="484632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LR warm-up was silently 4x too long - fixed</a:t>
            </a:r>
            <a:endParaRPr lang="en-US" sz="1300" dirty="0"/>
          </a:p>
          <a:p>
            <a:pPr marL="342900" indent="-342900">
              <a:spcAft>
                <a:spcPts val="800"/>
              </a:spcAft>
              <a:buSzPct val="100000"/>
              <a:buChar char="•"/>
            </a:pPr>
            <a:r>
              <a:rPr lang="en-US" sz="1300" dirty="0">
                <a:solidFill>
                  <a:schemeClr val="tx1"/>
                </a:solidFill>
              </a:rPr>
              <a:t>Base-model repo removed from Hugging Face - moved to the official mirror</a:t>
            </a:r>
            <a:endParaRPr lang="en-US" sz="1300" dirty="0"/>
          </a:p>
          <a:p>
            <a:pPr marL="342900" indent="-342900">
              <a:spcAft>
                <a:spcPts val="800"/>
              </a:spcAft>
              <a:buSzPct val="100000"/>
              <a:buChar char="•"/>
            </a:pPr>
            <a:r>
              <a:rPr lang="en-US" sz="1300" dirty="0">
                <a:solidFill>
                  <a:schemeClr val="tx1"/>
                </a:solidFill>
              </a:rPr>
              <a:t>Colab package conflicts (xformers, bitsandbytes) - removed, documented</a:t>
            </a:r>
            <a:endParaRPr lang="en-US" sz="1300" dirty="0"/>
          </a:p>
          <a:p>
            <a:pPr marL="342900" indent="-342900">
              <a:spcAft>
                <a:spcPts val="800"/>
              </a:spcAft>
              <a:buSzPct val="100000"/>
              <a:buChar char="•"/>
            </a:pPr>
            <a:r>
              <a:rPr lang="en-US" sz="1300" dirty="0">
                <a:solidFill>
                  <a:schemeClr val="tx1"/>
                </a:solidFill>
              </a:rPr>
              <a:t>Every checkpoint now exports loadable weights; 20-step smoke test before the full run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MILESTONE 2 - WHAT THE MODEL LEARNED</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style emerges during training</a:t>
            </a:r>
            <a:endParaRPr lang="en-US" sz="3200" dirty="0"/>
          </a:p>
        </p:txBody>
      </p:sp>
      <p:pic>
        <p:nvPicPr>
          <p:cNvPr id="4" name="progression" descr="/private/tmp/claude-501/-Users-shashwatsahu-Desktop-the-next-ravi-varma/b50e4b20-09e3-45d0-8877-560ccb85868c/scratchpad/deck/assets/progression.jpg">    </p:cNvPr>
          <p:cNvPicPr>
            <a:picLocks noChangeAspect="1"/>
          </p:cNvPicPr>
          <p:nvPr/>
        </p:nvPicPr>
        <p:blipFill>
          <a:blip r:embed="rId1"/>
          <a:stretch>
            <a:fillRect/>
          </a:stretch>
        </p:blipFill>
        <p:spPr>
          <a:xfrm>
            <a:off x="978408" y="1188720"/>
            <a:ext cx="10241280" cy="4553712"/>
          </a:xfrm>
          <a:prstGeom prst="rect">
            <a:avLst/>
          </a:prstGeom>
        </p:spPr>
      </p:pic>
      <p:sp>
        <p:nvSpPr>
          <p:cNvPr id="5" name="progression-caption"/>
          <p:cNvSpPr txBox="1"/>
          <p:nvPr/>
        </p:nvSpPr>
        <p:spPr>
          <a:xfrm>
            <a:off x="978408" y="5852160"/>
            <a:ext cx="10241280" cy="365760"/>
          </a:xfrm>
          <a:prstGeom prst="rect">
            <a:avLst/>
          </a:prstGeom>
          <a:noFill/>
          <a:ln/>
        </p:spPr>
        <p:txBody>
          <a:bodyPr wrap="square" lIns="0" tIns="0" rIns="0" bIns="0" rtlCol="0" anchor="ctr"/>
          <a:lstStyle/>
          <a:p>
            <a:pPr indent="0" marL="0">
              <a:buNone/>
            </a:pPr>
            <a:r>
              <a:rPr lang="en-US" sz="1200" i="1" dirty="0">
                <a:solidFill>
                  <a:schemeClr val="accent4"/>
                </a:solidFill>
              </a:rPr>
              <a:t>Same 3 prompts and seeds at every checkpoint. Step 0 = untrained adapter.  Frames disappear, a seated maharani pose and a pillared court appear after step 1000.</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RESULTS - SAME PROMPT, SAME SEED</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Base model vs our LoRA</a:t>
            </a:r>
            <a:endParaRPr lang="en-US" sz="3200" dirty="0"/>
          </a:p>
        </p:txBody>
      </p:sp>
      <p:pic>
        <p:nvPicPr>
          <p:cNvPr id="4" name="palace-base" descr="/private/tmp/claude-501/-Users-shashwatsahu-Desktop-the-next-ravi-varma/b50e4b20-09e3-45d0-8877-560ccb85868c/scratchpad/deck/assets/palace_base.jpg">    </p:cNvPr>
          <p:cNvPicPr>
            <a:picLocks noChangeAspect="1"/>
          </p:cNvPicPr>
          <p:nvPr/>
        </p:nvPicPr>
        <p:blipFill>
          <a:blip r:embed="rId1"/>
          <a:stretch>
            <a:fillRect/>
          </a:stretch>
        </p:blipFill>
        <p:spPr>
          <a:xfrm>
            <a:off x="548640" y="1600200"/>
            <a:ext cx="1737360" cy="2478024"/>
          </a:xfrm>
          <a:prstGeom prst="rect">
            <a:avLst/>
          </a:prstGeom>
        </p:spPr>
      </p:pic>
      <p:pic>
        <p:nvPicPr>
          <p:cNvPr id="5" name="palace-lora" descr="/private/tmp/claude-501/-Users-shashwatsahu-Desktop-the-next-ravi-varma/b50e4b20-09e3-45d0-8877-560ccb85868c/scratchpad/deck/assets/palace_lora.jpg">    </p:cNvPr>
          <p:cNvPicPr>
            <a:picLocks noChangeAspect="1"/>
          </p:cNvPicPr>
          <p:nvPr/>
        </p:nvPicPr>
        <p:blipFill>
          <a:blip r:embed="rId2"/>
          <a:stretch>
            <a:fillRect/>
          </a:stretch>
        </p:blipFill>
        <p:spPr>
          <a:xfrm>
            <a:off x="2377440" y="1600200"/>
            <a:ext cx="1737360" cy="2478024"/>
          </a:xfrm>
          <a:prstGeom prst="rect">
            <a:avLst/>
          </a:prstGeom>
        </p:spPr>
      </p:pic>
      <p:sp>
        <p:nvSpPr>
          <p:cNvPr id="6" name="palace-base-label"/>
          <p:cNvSpPr txBox="1"/>
          <p:nvPr/>
        </p:nvSpPr>
        <p:spPr>
          <a:xfrm>
            <a:off x="548640" y="1280160"/>
            <a:ext cx="1737360" cy="274320"/>
          </a:xfrm>
          <a:prstGeom prst="rect">
            <a:avLst/>
          </a:prstGeom>
          <a:noFill/>
          <a:ln/>
        </p:spPr>
        <p:txBody>
          <a:bodyPr wrap="square" lIns="0" tIns="0" rIns="0" bIns="0" rtlCol="0" anchor="ctr"/>
          <a:lstStyle/>
          <a:p>
            <a:pPr algn="ctr" indent="0" marL="0">
              <a:buNone/>
            </a:pPr>
            <a:r>
              <a:rPr lang="en-US" sz="1100" b="1" dirty="0">
                <a:solidFill>
                  <a:schemeClr val="accent4"/>
                </a:solidFill>
              </a:rPr>
              <a:t>BASE SD1.5</a:t>
            </a:r>
            <a:endParaRPr lang="en-US" sz="1100" dirty="0"/>
          </a:p>
        </p:txBody>
      </p:sp>
      <p:sp>
        <p:nvSpPr>
          <p:cNvPr id="7" name="palace-lora-label"/>
          <p:cNvSpPr txBox="1"/>
          <p:nvPr/>
        </p:nvSpPr>
        <p:spPr>
          <a:xfrm>
            <a:off x="2377440" y="1280160"/>
            <a:ext cx="1737360" cy="274320"/>
          </a:xfrm>
          <a:prstGeom prst="rect">
            <a:avLst/>
          </a:prstGeom>
          <a:noFill/>
          <a:ln/>
        </p:spPr>
        <p:txBody>
          <a:bodyPr wrap="square" lIns="0" tIns="0" rIns="0" bIns="0" rtlCol="0" anchor="ctr"/>
          <a:lstStyle/>
          <a:p>
            <a:pPr algn="ctr" indent="0" marL="0">
              <a:buNone/>
            </a:pPr>
            <a:r>
              <a:rPr lang="en-US" sz="1100" b="1" dirty="0">
                <a:solidFill>
                  <a:schemeClr val="accent3"/>
                </a:solidFill>
              </a:rPr>
              <a:t>+ LoRA</a:t>
            </a:r>
            <a:endParaRPr lang="en-US" sz="1100" dirty="0"/>
          </a:p>
        </p:txBody>
      </p:sp>
      <p:sp>
        <p:nvSpPr>
          <p:cNvPr id="8" name="caption"/>
          <p:cNvSpPr txBox="1"/>
          <p:nvPr/>
        </p:nvSpPr>
        <p:spPr>
          <a:xfrm>
            <a:off x="548640" y="4114800"/>
            <a:ext cx="3566160" cy="274320"/>
          </a:xfrm>
          <a:prstGeom prst="rect">
            <a:avLst/>
          </a:prstGeom>
          <a:noFill/>
          <a:ln/>
        </p:spPr>
        <p:txBody>
          <a:bodyPr wrap="square" lIns="0" tIns="0" rIns="0" bIns="0" rtlCol="0" anchor="ctr"/>
          <a:lstStyle/>
          <a:p>
            <a:pPr algn="ctr" indent="0" marL="0">
              <a:buNone/>
            </a:pPr>
            <a:r>
              <a:rPr lang="en-US" sz="1100" i="1" dirty="0">
                <a:solidFill>
                  <a:schemeClr val="accent4"/>
                </a:solidFill>
              </a:rPr>
              <a:t>"royal Indian woman ... palace interior"</a:t>
            </a:r>
            <a:endParaRPr lang="en-US" sz="1100" dirty="0"/>
          </a:p>
        </p:txBody>
      </p:sp>
      <p:pic>
        <p:nvPicPr>
          <p:cNvPr id="9" name="portrait-base" descr="/private/tmp/claude-501/-Users-shashwatsahu-Desktop-the-next-ravi-varma/b50e4b20-09e3-45d0-8877-560ccb85868c/scratchpad/deck/assets/portrait_base.jpg">    </p:cNvPr>
          <p:cNvPicPr>
            <a:picLocks noChangeAspect="1"/>
          </p:cNvPicPr>
          <p:nvPr/>
        </p:nvPicPr>
        <p:blipFill>
          <a:blip r:embed="rId3"/>
          <a:stretch>
            <a:fillRect/>
          </a:stretch>
        </p:blipFill>
        <p:spPr>
          <a:xfrm>
            <a:off x="4297680" y="1600200"/>
            <a:ext cx="1737360" cy="2478024"/>
          </a:xfrm>
          <a:prstGeom prst="rect">
            <a:avLst/>
          </a:prstGeom>
        </p:spPr>
      </p:pic>
      <p:pic>
        <p:nvPicPr>
          <p:cNvPr id="10" name="portrait-lora" descr="/private/tmp/claude-501/-Users-shashwatsahu-Desktop-the-next-ravi-varma/b50e4b20-09e3-45d0-8877-560ccb85868c/scratchpad/deck/assets/portrait_lora.jpg">    </p:cNvPr>
          <p:cNvPicPr>
            <a:picLocks noChangeAspect="1"/>
          </p:cNvPicPr>
          <p:nvPr/>
        </p:nvPicPr>
        <p:blipFill>
          <a:blip r:embed="rId4"/>
          <a:stretch>
            <a:fillRect/>
          </a:stretch>
        </p:blipFill>
        <p:spPr>
          <a:xfrm>
            <a:off x="6126480" y="1600200"/>
            <a:ext cx="1737360" cy="2478024"/>
          </a:xfrm>
          <a:prstGeom prst="rect">
            <a:avLst/>
          </a:prstGeom>
        </p:spPr>
      </p:pic>
      <p:sp>
        <p:nvSpPr>
          <p:cNvPr id="11" name="portrait-base-label"/>
          <p:cNvSpPr txBox="1"/>
          <p:nvPr/>
        </p:nvSpPr>
        <p:spPr>
          <a:xfrm>
            <a:off x="4297680" y="1280160"/>
            <a:ext cx="1737360" cy="274320"/>
          </a:xfrm>
          <a:prstGeom prst="rect">
            <a:avLst/>
          </a:prstGeom>
          <a:noFill/>
          <a:ln/>
        </p:spPr>
        <p:txBody>
          <a:bodyPr wrap="square" lIns="0" tIns="0" rIns="0" bIns="0" rtlCol="0" anchor="ctr"/>
          <a:lstStyle/>
          <a:p>
            <a:pPr algn="ctr" indent="0" marL="0">
              <a:buNone/>
            </a:pPr>
            <a:r>
              <a:rPr lang="en-US" sz="1100" b="1" dirty="0">
                <a:solidFill>
                  <a:schemeClr val="accent4"/>
                </a:solidFill>
              </a:rPr>
              <a:t>BASE SD1.5</a:t>
            </a:r>
            <a:endParaRPr lang="en-US" sz="1100" dirty="0"/>
          </a:p>
        </p:txBody>
      </p:sp>
      <p:sp>
        <p:nvSpPr>
          <p:cNvPr id="12" name="portrait-lora-label"/>
          <p:cNvSpPr txBox="1"/>
          <p:nvPr/>
        </p:nvSpPr>
        <p:spPr>
          <a:xfrm>
            <a:off x="6126480" y="1280160"/>
            <a:ext cx="1737360" cy="274320"/>
          </a:xfrm>
          <a:prstGeom prst="rect">
            <a:avLst/>
          </a:prstGeom>
          <a:noFill/>
          <a:ln/>
        </p:spPr>
        <p:txBody>
          <a:bodyPr wrap="square" lIns="0" tIns="0" rIns="0" bIns="0" rtlCol="0" anchor="ctr"/>
          <a:lstStyle/>
          <a:p>
            <a:pPr algn="ctr" indent="0" marL="0">
              <a:buNone/>
            </a:pPr>
            <a:r>
              <a:rPr lang="en-US" sz="1100" b="1" dirty="0">
                <a:solidFill>
                  <a:schemeClr val="accent3"/>
                </a:solidFill>
              </a:rPr>
              <a:t>+ LoRA</a:t>
            </a:r>
            <a:endParaRPr lang="en-US" sz="1100" dirty="0"/>
          </a:p>
        </p:txBody>
      </p:sp>
      <p:sp>
        <p:nvSpPr>
          <p:cNvPr id="13" name="caption"/>
          <p:cNvSpPr txBox="1"/>
          <p:nvPr/>
        </p:nvSpPr>
        <p:spPr>
          <a:xfrm>
            <a:off x="4297680" y="4114800"/>
            <a:ext cx="3566160" cy="274320"/>
          </a:xfrm>
          <a:prstGeom prst="rect">
            <a:avLst/>
          </a:prstGeom>
          <a:noFill/>
          <a:ln/>
        </p:spPr>
        <p:txBody>
          <a:bodyPr wrap="square" lIns="0" tIns="0" rIns="0" bIns="0" rtlCol="0" anchor="ctr"/>
          <a:lstStyle/>
          <a:p>
            <a:pPr algn="ctr" indent="0" marL="0">
              <a:buNone/>
            </a:pPr>
            <a:r>
              <a:rPr lang="en-US" sz="1100" i="1" dirty="0">
                <a:solidFill>
                  <a:schemeClr val="accent4"/>
                </a:solidFill>
              </a:rPr>
              <a:t>"royal Indian portrait ... jewelry"</a:t>
            </a:r>
            <a:endParaRPr lang="en-US" sz="1100" dirty="0"/>
          </a:p>
        </p:txBody>
      </p:sp>
      <p:pic>
        <p:nvPicPr>
          <p:cNvPr id="14" name="window-base" descr="/private/tmp/claude-501/-Users-shashwatsahu-Desktop-the-next-ravi-varma/b50e4b20-09e3-45d0-8877-560ccb85868c/scratchpad/deck/assets/window_base.jpg">    </p:cNvPr>
          <p:cNvPicPr>
            <a:picLocks noChangeAspect="1"/>
          </p:cNvPicPr>
          <p:nvPr/>
        </p:nvPicPr>
        <p:blipFill>
          <a:blip r:embed="rId5"/>
          <a:stretch>
            <a:fillRect/>
          </a:stretch>
        </p:blipFill>
        <p:spPr>
          <a:xfrm>
            <a:off x="8046720" y="1600200"/>
            <a:ext cx="1737360" cy="2478024"/>
          </a:xfrm>
          <a:prstGeom prst="rect">
            <a:avLst/>
          </a:prstGeom>
        </p:spPr>
      </p:pic>
      <p:pic>
        <p:nvPicPr>
          <p:cNvPr id="15" name="window-lora" descr="/private/tmp/claude-501/-Users-shashwatsahu-Desktop-the-next-ravi-varma/b50e4b20-09e3-45d0-8877-560ccb85868c/scratchpad/deck/assets/window_lora.jpg">    </p:cNvPr>
          <p:cNvPicPr>
            <a:picLocks noChangeAspect="1"/>
          </p:cNvPicPr>
          <p:nvPr/>
        </p:nvPicPr>
        <p:blipFill>
          <a:blip r:embed="rId6"/>
          <a:stretch>
            <a:fillRect/>
          </a:stretch>
        </p:blipFill>
        <p:spPr>
          <a:xfrm>
            <a:off x="9875520" y="1600200"/>
            <a:ext cx="1737360" cy="2478024"/>
          </a:xfrm>
          <a:prstGeom prst="rect">
            <a:avLst/>
          </a:prstGeom>
        </p:spPr>
      </p:pic>
      <p:sp>
        <p:nvSpPr>
          <p:cNvPr id="16" name="window-base-label"/>
          <p:cNvSpPr txBox="1"/>
          <p:nvPr/>
        </p:nvSpPr>
        <p:spPr>
          <a:xfrm>
            <a:off x="8046720" y="1280160"/>
            <a:ext cx="1737360" cy="274320"/>
          </a:xfrm>
          <a:prstGeom prst="rect">
            <a:avLst/>
          </a:prstGeom>
          <a:noFill/>
          <a:ln/>
        </p:spPr>
        <p:txBody>
          <a:bodyPr wrap="square" lIns="0" tIns="0" rIns="0" bIns="0" rtlCol="0" anchor="ctr"/>
          <a:lstStyle/>
          <a:p>
            <a:pPr algn="ctr" indent="0" marL="0">
              <a:buNone/>
            </a:pPr>
            <a:r>
              <a:rPr lang="en-US" sz="1100" b="1" dirty="0">
                <a:solidFill>
                  <a:schemeClr val="accent4"/>
                </a:solidFill>
              </a:rPr>
              <a:t>BASE SD1.5</a:t>
            </a:r>
            <a:endParaRPr lang="en-US" sz="1100" dirty="0"/>
          </a:p>
        </p:txBody>
      </p:sp>
      <p:sp>
        <p:nvSpPr>
          <p:cNvPr id="17" name="window-lora-label"/>
          <p:cNvSpPr txBox="1"/>
          <p:nvPr/>
        </p:nvSpPr>
        <p:spPr>
          <a:xfrm>
            <a:off x="9875520" y="1280160"/>
            <a:ext cx="1737360" cy="274320"/>
          </a:xfrm>
          <a:prstGeom prst="rect">
            <a:avLst/>
          </a:prstGeom>
          <a:noFill/>
          <a:ln/>
        </p:spPr>
        <p:txBody>
          <a:bodyPr wrap="square" lIns="0" tIns="0" rIns="0" bIns="0" rtlCol="0" anchor="ctr"/>
          <a:lstStyle/>
          <a:p>
            <a:pPr algn="ctr" indent="0" marL="0">
              <a:buNone/>
            </a:pPr>
            <a:r>
              <a:rPr lang="en-US" sz="1100" b="1" dirty="0">
                <a:solidFill>
                  <a:schemeClr val="accent3"/>
                </a:solidFill>
              </a:rPr>
              <a:t>+ LoRA</a:t>
            </a:r>
            <a:endParaRPr lang="en-US" sz="1100" dirty="0"/>
          </a:p>
        </p:txBody>
      </p:sp>
      <p:sp>
        <p:nvSpPr>
          <p:cNvPr id="18" name="caption"/>
          <p:cNvSpPr txBox="1"/>
          <p:nvPr/>
        </p:nvSpPr>
        <p:spPr>
          <a:xfrm>
            <a:off x="8046720" y="4114800"/>
            <a:ext cx="3566160" cy="274320"/>
          </a:xfrm>
          <a:prstGeom prst="rect">
            <a:avLst/>
          </a:prstGeom>
          <a:noFill/>
          <a:ln/>
        </p:spPr>
        <p:txBody>
          <a:bodyPr wrap="square" lIns="0" tIns="0" rIns="0" bIns="0" rtlCol="0" anchor="ctr"/>
          <a:lstStyle/>
          <a:p>
            <a:pPr algn="ctr" indent="0" marL="0">
              <a:buNone/>
            </a:pPr>
            <a:r>
              <a:rPr lang="en-US" sz="1100" i="1" dirty="0">
                <a:solidFill>
                  <a:schemeClr val="accent4"/>
                </a:solidFill>
              </a:rPr>
              <a:t>"woman seated beside a window ..."</a:t>
            </a:r>
            <a:endParaRPr lang="en-US" sz="1100" dirty="0"/>
          </a:p>
        </p:txBody>
      </p:sp>
      <p:sp>
        <p:nvSpPr>
          <p:cNvPr id="19" name="obs-card"/>
          <p:cNvSpPr/>
          <p:nvPr/>
        </p:nvSpPr>
        <p:spPr>
          <a:xfrm>
            <a:off x="548640" y="4572000"/>
            <a:ext cx="11064240" cy="1600200"/>
          </a:xfrm>
          <a:prstGeom prst="roundRect">
            <a:avLst>
              <a:gd name="adj" fmla="val 4571"/>
            </a:avLst>
          </a:prstGeom>
          <a:solidFill>
            <a:schemeClr val="bg2"/>
          </a:solidFill>
          <a:ln/>
        </p:spPr>
      </p:sp>
      <p:sp>
        <p:nvSpPr>
          <p:cNvPr id="20" name="bullets"/>
          <p:cNvSpPr txBox="1"/>
          <p:nvPr/>
        </p:nvSpPr>
        <p:spPr>
          <a:xfrm>
            <a:off x="777240" y="4709160"/>
            <a:ext cx="10607040" cy="137160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Staging moves toward Varma: </a:t>
            </a:r>
            <a:pPr indent="0" marL="0">
              <a:buNone/>
            </a:pPr>
            <a:r>
              <a:rPr lang="en-US" sz="1400" dirty="0">
                <a:solidFill>
                  <a:schemeClr val="tx1"/>
                </a:solidFill>
              </a:rPr>
              <a:t>full-length figures with pillars, carpets and lamp stands; maharaja-style court portraits; seated poses with draped saris.</a:t>
            </a:r>
            <a:endParaRPr lang="en-US" sz="1400" dirty="0"/>
          </a:p>
          <a:p>
            <a:pPr marL="342900" indent="-342900">
              <a:spcAft>
                <a:spcPts val="800"/>
              </a:spcAft>
              <a:buSzPct val="100000"/>
              <a:buChar char="•"/>
            </a:pPr>
            <a:r>
              <a:rPr lang="en-US" sz="1400" b="1" dirty="0">
                <a:solidFill>
                  <a:schemeClr val="tx1"/>
                </a:solidFill>
              </a:rPr>
              <a:t>No gilt frames: </a:t>
            </a:r>
            <a:pPr indent="0" marL="0">
              <a:buNone/>
            </a:pPr>
            <a:r>
              <a:rPr lang="en-US" sz="1400" dirty="0">
                <a:solidFill>
                  <a:schemeClr val="tx1"/>
                </a:solidFill>
              </a:rPr>
              <a:t>0 of 15 LoRA images vs 5 of 15 base images (same negative prompt).</a:t>
            </a:r>
            <a:endParaRPr lang="en-US" sz="1400" dirty="0"/>
          </a:p>
          <a:p>
            <a:pPr marL="342900" indent="-342900">
              <a:spcAft>
                <a:spcPts val="800"/>
              </a:spcAft>
              <a:buSzPct val="100000"/>
              <a:buChar char="•"/>
            </a:pPr>
            <a:r>
              <a:rPr lang="en-US" sz="1400" b="1" dirty="0">
                <a:solidFill>
                  <a:schemeClr val="tx1"/>
                </a:solidFill>
              </a:rPr>
              <a:t>Rendering: </a:t>
            </a:r>
            <a:pPr indent="0" marL="0">
              <a:buNone/>
            </a:pPr>
            <a:r>
              <a:rPr lang="en-US" sz="1400" dirty="0">
                <a:solidFill>
                  <a:schemeClr val="tx1"/>
                </a:solidFill>
              </a:rPr>
              <a:t>warmer, darker painted backgrounds instead of glossy digital 'calendar art'.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RESULTS - HONEST ASSESSMENT</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works, and what the LoRA gets wrong</a:t>
            </a:r>
            <a:endParaRPr lang="en-US" sz="3200" dirty="0"/>
          </a:p>
        </p:txBody>
      </p:sp>
      <p:pic>
        <p:nvPicPr>
          <p:cNvPr id="4" name="local-check" descr="/private/tmp/claude-501/-Users-shashwatsahu-Desktop-the-next-ravi-varma/b50e4b20-09e3-45d0-8877-560ccb85868c/scratchpad/deck/assets/local_check.jpg">    </p:cNvPr>
          <p:cNvPicPr>
            <a:picLocks noChangeAspect="1"/>
          </p:cNvPicPr>
          <p:nvPr/>
        </p:nvPicPr>
        <p:blipFill>
          <a:blip r:embed="rId1"/>
          <a:stretch>
            <a:fillRect/>
          </a:stretch>
        </p:blipFill>
        <p:spPr>
          <a:xfrm>
            <a:off x="548640" y="1280160"/>
            <a:ext cx="3200400" cy="4572000"/>
          </a:xfrm>
          <a:prstGeom prst="rect">
            <a:avLst/>
          </a:prstGeom>
        </p:spPr>
      </p:pic>
      <p:sp>
        <p:nvSpPr>
          <p:cNvPr id="5" name="caption"/>
          <p:cNvSpPr txBox="1"/>
          <p:nvPr/>
        </p:nvSpPr>
        <p:spPr>
          <a:xfrm>
            <a:off x="320040" y="5897880"/>
            <a:ext cx="3657600" cy="274320"/>
          </a:xfrm>
          <a:prstGeom prst="rect">
            <a:avLst/>
          </a:prstGeom>
          <a:noFill/>
          <a:ln/>
        </p:spPr>
        <p:txBody>
          <a:bodyPr wrap="square" lIns="0" tIns="0" rIns="0" bIns="0" rtlCol="0" anchor="ctr"/>
          <a:lstStyle/>
          <a:p>
            <a:pPr algn="ctr" indent="0" marL="0">
              <a:buNone/>
            </a:pPr>
            <a:r>
              <a:rPr lang="en-US" sz="1000" dirty="0">
                <a:solidFill>
                  <a:schemeClr val="accent4"/>
                </a:solidFill>
              </a:rPr>
              <a:t>Generated locally on a MacBook with the trained weights (seed 7)</a:t>
            </a:r>
            <a:endParaRPr lang="en-US" sz="1000" dirty="0"/>
          </a:p>
        </p:txBody>
      </p:sp>
      <p:sp>
        <p:nvSpPr>
          <p:cNvPr id="6" name="good-circle"/>
          <p:cNvSpPr/>
          <p:nvPr/>
        </p:nvSpPr>
        <p:spPr>
          <a:xfrm>
            <a:off x="4206240" y="1325880"/>
            <a:ext cx="502920" cy="502920"/>
          </a:xfrm>
          <a:prstGeom prst="ellipse">
            <a:avLst/>
          </a:prstGeom>
          <a:solidFill>
            <a:schemeClr val="accent2"/>
          </a:solidFill>
          <a:ln/>
        </p:spPr>
      </p:sp>
      <p:pic>
        <p:nvPicPr>
          <p:cNvPr id="7" name="good-icon" descr="preencoded.png">    </p:cNvPr>
          <p:cNvPicPr>
            <a:picLocks noChangeAspect="1"/>
          </p:cNvPicPr>
          <p:nvPr/>
        </p:nvPicPr>
        <p:blipFill>
          <a:blip r:embed="rId2"/>
          <a:stretch>
            <a:fillRect/>
          </a:stretch>
        </p:blipFill>
        <p:spPr>
          <a:xfrm>
            <a:off x="4336999" y="1456639"/>
            <a:ext cx="241402" cy="241402"/>
          </a:xfrm>
          <a:prstGeom prst="rect">
            <a:avLst/>
          </a:prstGeom>
        </p:spPr>
      </p:pic>
      <p:sp>
        <p:nvSpPr>
          <p:cNvPr id="8" name="good-head"/>
          <p:cNvSpPr txBox="1"/>
          <p:nvPr/>
        </p:nvSpPr>
        <p:spPr>
          <a:xfrm>
            <a:off x="4846320" y="1325880"/>
            <a:ext cx="2743200" cy="502920"/>
          </a:xfrm>
          <a:prstGeom prst="rect">
            <a:avLst/>
          </a:prstGeom>
          <a:noFill/>
          <a:ln/>
        </p:spPr>
        <p:txBody>
          <a:bodyPr wrap="square" lIns="0" tIns="0" rIns="0" bIns="0" rtlCol="0" anchor="ctr"/>
          <a:lstStyle/>
          <a:p>
            <a:pPr indent="0" marL="0">
              <a:buNone/>
            </a:pPr>
            <a:r>
              <a:rPr lang="en-US" sz="2000" b="1" dirty="0">
                <a:solidFill>
                  <a:schemeClr val="accent2"/>
                </a:solidFill>
              </a:rPr>
              <a:t>Works</a:t>
            </a:r>
            <a:endParaRPr lang="en-US" sz="2000" dirty="0"/>
          </a:p>
        </p:txBody>
      </p:sp>
      <p:sp>
        <p:nvSpPr>
          <p:cNvPr id="9" name="bullets"/>
          <p:cNvSpPr txBox="1"/>
          <p:nvPr/>
        </p:nvSpPr>
        <p:spPr>
          <a:xfrm>
            <a:off x="4206240" y="1965960"/>
            <a:ext cx="740664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Varma-like staging, palette and soft painted lighting on single figures</a:t>
            </a:r>
            <a:endParaRPr lang="en-US" sz="1400" dirty="0"/>
          </a:p>
          <a:p>
            <a:pPr marL="342900" indent="-342900">
              <a:spcAft>
                <a:spcPts val="800"/>
              </a:spcAft>
              <a:buSzPct val="100000"/>
              <a:buChar char="•"/>
            </a:pPr>
            <a:r>
              <a:rPr lang="en-US" sz="1400" dirty="0">
                <a:solidFill>
                  <a:schemeClr val="tx1"/>
                </a:solidFill>
              </a:rPr>
              <a:t>Generalises to unseen prompts and seeds; no memorised copies (max similarity to any training image 0.88)</a:t>
            </a:r>
            <a:endParaRPr lang="en-US" sz="1400" dirty="0"/>
          </a:p>
          <a:p>
            <a:pPr marL="342900" indent="-342900">
              <a:spcAft>
                <a:spcPts val="800"/>
              </a:spcAft>
              <a:buSzPct val="100000"/>
              <a:buChar char="•"/>
            </a:pPr>
            <a:r>
              <a:rPr lang="en-US" sz="1400" dirty="0">
                <a:solidFill>
                  <a:schemeClr val="tx1"/>
                </a:solidFill>
              </a:rPr>
              <a:t>Weights trained on Colab load and run on a laptop</a:t>
            </a:r>
            <a:endParaRPr lang="en-US" sz="1400" dirty="0"/>
          </a:p>
        </p:txBody>
      </p:sp>
      <p:sp>
        <p:nvSpPr>
          <p:cNvPr id="10" name="bad-circle"/>
          <p:cNvSpPr/>
          <p:nvPr/>
        </p:nvSpPr>
        <p:spPr>
          <a:xfrm>
            <a:off x="4206240" y="3794760"/>
            <a:ext cx="502920" cy="502920"/>
          </a:xfrm>
          <a:prstGeom prst="ellipse">
            <a:avLst/>
          </a:prstGeom>
          <a:solidFill>
            <a:schemeClr val="accent3"/>
          </a:solidFill>
          <a:ln/>
        </p:spPr>
      </p:sp>
      <p:pic>
        <p:nvPicPr>
          <p:cNvPr id="11" name="bad-icon" descr="preencoded.png">    </p:cNvPr>
          <p:cNvPicPr>
            <a:picLocks noChangeAspect="1"/>
          </p:cNvPicPr>
          <p:nvPr/>
        </p:nvPicPr>
        <p:blipFill>
          <a:blip r:embed="rId3"/>
          <a:stretch>
            <a:fillRect/>
          </a:stretch>
        </p:blipFill>
        <p:spPr>
          <a:xfrm>
            <a:off x="4336999" y="3925519"/>
            <a:ext cx="241402" cy="241402"/>
          </a:xfrm>
          <a:prstGeom prst="rect">
            <a:avLst/>
          </a:prstGeom>
        </p:spPr>
      </p:pic>
      <p:sp>
        <p:nvSpPr>
          <p:cNvPr id="12" name="bad-head"/>
          <p:cNvSpPr txBox="1"/>
          <p:nvPr/>
        </p:nvSpPr>
        <p:spPr>
          <a:xfrm>
            <a:off x="4846320" y="3794760"/>
            <a:ext cx="3657600" cy="502920"/>
          </a:xfrm>
          <a:prstGeom prst="rect">
            <a:avLst/>
          </a:prstGeom>
          <a:noFill/>
          <a:ln/>
        </p:spPr>
        <p:txBody>
          <a:bodyPr wrap="square" lIns="0" tIns="0" rIns="0" bIns="0" rtlCol="0" anchor="ctr"/>
          <a:lstStyle/>
          <a:p>
            <a:pPr indent="0" marL="0">
              <a:buNone/>
            </a:pPr>
            <a:r>
              <a:rPr lang="en-US" sz="2000" b="1" dirty="0">
                <a:solidFill>
                  <a:schemeClr val="accent3"/>
                </a:solidFill>
              </a:rPr>
              <a:t>Problems found</a:t>
            </a:r>
            <a:endParaRPr lang="en-US" sz="2000" dirty="0"/>
          </a:p>
        </p:txBody>
      </p:sp>
      <p:sp>
        <p:nvSpPr>
          <p:cNvPr id="13" name="bullets"/>
          <p:cNvSpPr txBox="1"/>
          <p:nvPr/>
        </p:nvSpPr>
        <p:spPr>
          <a:xfrm>
            <a:off x="4206240" y="4434840"/>
            <a:ext cx="740664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Moustache-like shadow on some women's upper lips (not in the base model)</a:t>
            </a:r>
            <a:endParaRPr lang="en-US" sz="1400" dirty="0"/>
          </a:p>
          <a:p>
            <a:pPr marL="342900" indent="-342900">
              <a:spcAft>
                <a:spcPts val="800"/>
              </a:spcAft>
              <a:buSzPct val="100000"/>
              <a:buChar char="•"/>
            </a:pPr>
            <a:r>
              <a:rPr lang="en-US" sz="1400" dirty="0">
                <a:solidFill>
                  <a:schemeClr val="tx1"/>
                </a:solidFill>
              </a:rPr>
              <a:t>Signature-like scribbles in corners - learned from printed signatures on oleographs</a:t>
            </a:r>
            <a:endParaRPr lang="en-US" sz="1400" dirty="0"/>
          </a:p>
          <a:p>
            <a:pPr marL="342900" indent="-342900">
              <a:spcAft>
                <a:spcPts val="800"/>
              </a:spcAft>
              <a:buSzPct val="100000"/>
              <a:buChar char="•"/>
            </a:pPr>
            <a:r>
              <a:rPr lang="en-US" sz="1400" dirty="0">
                <a:solidFill>
                  <a:schemeClr val="tx1"/>
                </a:solidFill>
              </a:rPr>
              <a:t>Crowded mythological scenes stay saturated 'poster art'; hands remain weak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EVALUATION - 15 PAIRED IMAGES</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Automatic metrics: a small, inconsistent shift</a:t>
            </a:r>
            <a:endParaRPr lang="en-US" sz="3200" dirty="0"/>
          </a:p>
        </p:txBody>
      </p:sp>
      <p:pic>
        <p:nvPicPr>
          <p:cNvPr id="4" name="metrics-chart" descr="/private/tmp/claude-501/-Users-shashwatsahu-Desktop-the-next-ravi-varma/b50e4b20-09e3-45d0-8877-560ccb85868c/scratchpad/deck/assets/metrics_chart.png">    </p:cNvPr>
          <p:cNvPicPr>
            <a:picLocks noChangeAspect="1"/>
          </p:cNvPicPr>
          <p:nvPr/>
        </p:nvPicPr>
        <p:blipFill>
          <a:blip r:embed="rId1"/>
          <a:stretch>
            <a:fillRect/>
          </a:stretch>
        </p:blipFill>
        <p:spPr>
          <a:xfrm>
            <a:off x="548640" y="1280160"/>
            <a:ext cx="6583680" cy="4572000"/>
          </a:xfrm>
          <a:prstGeom prst="rect">
            <a:avLst/>
          </a:prstGeom>
        </p:spPr>
      </p:pic>
      <p:sp>
        <p:nvSpPr>
          <p:cNvPr id="5" name="chart-alt-data"/>
          <p:cNvSpPr txBox="1"/>
          <p:nvPr/>
        </p:nvSpPr>
        <p:spPr>
          <a:xfrm>
            <a:off x="548640" y="5897880"/>
            <a:ext cx="6583680" cy="274320"/>
          </a:xfrm>
          <a:prstGeom prst="rect">
            <a:avLst/>
          </a:prstGeom>
          <a:noFill/>
          <a:ln/>
        </p:spPr>
        <p:txBody>
          <a:bodyPr wrap="square" lIns="0" tIns="0" rIns="0" bIns="0" rtlCol="0" anchor="ctr"/>
          <a:lstStyle/>
          <a:p>
            <a:pPr indent="0" marL="0">
              <a:buNone/>
            </a:pPr>
            <a:r>
              <a:rPr lang="en-US" sz="900" dirty="0">
                <a:solidFill>
                  <a:schemeClr val="accent4"/>
                </a:solidFill>
              </a:rPr>
              <a:t>Base SD1.5 vs + LoRA: prompt adherence 0.328 vs 0.317; style similarity mean 0.669 vs 0.681, top-3 0.734 vs 0.746; diversity 0.106 vs 0.119.</a:t>
            </a:r>
            <a:endParaRPr lang="en-US" sz="900" dirty="0"/>
          </a:p>
        </p:txBody>
      </p:sp>
      <p:sp>
        <p:nvSpPr>
          <p:cNvPr id="6" name="bullets"/>
          <p:cNvSpPr txBox="1"/>
          <p:nvPr/>
        </p:nvSpPr>
        <p:spPr>
          <a:xfrm>
            <a:off x="7498080" y="1463040"/>
            <a:ext cx="4114800" cy="457200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Style similarity </a:t>
            </a:r>
            <a:pPr indent="0" marL="0">
              <a:buNone/>
            </a:pPr>
            <a:r>
              <a:rPr lang="en-US" sz="1400" dirty="0">
                <a:solidFill>
                  <a:schemeClr val="tx1"/>
                </a:solidFill>
              </a:rPr>
              <a:t>to 12 held-out paintings: +0.012 (LoRA higher in 7 of 15 pairs).</a:t>
            </a:r>
            <a:endParaRPr lang="en-US" sz="1400" dirty="0"/>
          </a:p>
          <a:p>
            <a:pPr marL="342900" indent="-342900">
              <a:spcAft>
                <a:spcPts val="800"/>
              </a:spcAft>
              <a:buSzPct val="100000"/>
              <a:buChar char="•"/>
            </a:pPr>
            <a:r>
              <a:rPr lang="en-US" sz="1400" b="1" dirty="0">
                <a:solidFill>
                  <a:schemeClr val="tx1"/>
                </a:solidFill>
              </a:rPr>
              <a:t>Prompt adherence </a:t>
            </a:r>
            <a:pPr indent="0" marL="0">
              <a:buNone/>
            </a:pPr>
            <a:r>
              <a:rPr lang="en-US" sz="1400" dirty="0">
                <a:solidFill>
                  <a:schemeClr val="tx1"/>
                </a:solidFill>
              </a:rPr>
              <a:t>-0.011, within noise for 15 pairs.</a:t>
            </a:r>
            <a:endParaRPr lang="en-US" sz="1400" dirty="0"/>
          </a:p>
          <a:p>
            <a:pPr marL="342900" indent="-342900">
              <a:spcAft>
                <a:spcPts val="800"/>
              </a:spcAft>
              <a:buSzPct val="100000"/>
              <a:buChar char="•"/>
            </a:pPr>
            <a:r>
              <a:rPr lang="en-US" sz="1400" b="1" dirty="0">
                <a:solidFill>
                  <a:schemeClr val="tx1"/>
                </a:solidFill>
              </a:rPr>
              <a:t>No memorisation: </a:t>
            </a:r>
            <a:pPr indent="0" marL="0">
              <a:buNone/>
            </a:pPr>
            <a:r>
              <a:rPr lang="en-US" sz="1400" dirty="0">
                <a:solidFill>
                  <a:schemeClr val="tx1"/>
                </a:solidFill>
              </a:rPr>
              <a:t>no output is a near-copy of a training image.</a:t>
            </a:r>
            <a:endParaRPr lang="en-US" sz="1400" dirty="0"/>
          </a:p>
          <a:p>
            <a:pPr marL="342900" indent="-342900">
              <a:spcAft>
                <a:spcPts val="800"/>
              </a:spcAft>
              <a:buSzPct val="100000"/>
              <a:buChar char="•"/>
            </a:pPr>
            <a:r>
              <a:rPr lang="en-US" sz="1400" b="1" dirty="0">
                <a:solidFill>
                  <a:schemeClr val="accent3"/>
                </a:solidFill>
              </a:rPr>
              <a:t>Takeaway: </a:t>
            </a:r>
            <a:pPr indent="0" marL="0">
              <a:buNone/>
            </a:pPr>
            <a:r>
              <a:rPr lang="en-US" sz="1400" dirty="0">
                <a:solidFill>
                  <a:schemeClr val="tx1"/>
                </a:solidFill>
              </a:rPr>
              <a:t>CLIP barely sees the composition and framing changes that are obvious to a viewer - it is a weak judge of painting style. A human rubric (quality, anatomy, style, prompt) is prepared for the next stage.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109728"/>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REMAINING ~50%</a:t>
            </a:r>
            <a:endParaRPr lang="en-US" sz="11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Next steps</a:t>
            </a:r>
            <a:endParaRPr lang="en-US" sz="3200" dirty="0"/>
          </a:p>
        </p:txBody>
      </p:sp>
      <p:sp>
        <p:nvSpPr>
          <p:cNvPr id="4" name="next-card-0"/>
          <p:cNvSpPr/>
          <p:nvPr/>
        </p:nvSpPr>
        <p:spPr>
          <a:xfrm>
            <a:off x="548640" y="1371600"/>
            <a:ext cx="11064240" cy="1325880"/>
          </a:xfrm>
          <a:prstGeom prst="roundRect">
            <a:avLst>
              <a:gd name="adj" fmla="val 5517"/>
            </a:avLst>
          </a:prstGeom>
          <a:solidFill>
            <a:schemeClr val="bg2"/>
          </a:solidFill>
          <a:ln/>
        </p:spPr>
      </p:sp>
      <p:sp>
        <p:nvSpPr>
          <p:cNvPr id="5" name="next-0-circle"/>
          <p:cNvSpPr/>
          <p:nvPr/>
        </p:nvSpPr>
        <p:spPr>
          <a:xfrm>
            <a:off x="822960" y="1691640"/>
            <a:ext cx="685800" cy="685800"/>
          </a:xfrm>
          <a:prstGeom prst="ellipse">
            <a:avLst/>
          </a:prstGeom>
          <a:solidFill>
            <a:schemeClr val="accent3"/>
          </a:solidFill>
          <a:ln/>
        </p:spPr>
      </p:sp>
      <p:pic>
        <p:nvPicPr>
          <p:cNvPr id="6" name="next-0-icon" descr="preencoded.png">    </p:cNvPr>
          <p:cNvPicPr>
            <a:picLocks noChangeAspect="1"/>
          </p:cNvPicPr>
          <p:nvPr/>
        </p:nvPicPr>
        <p:blipFill>
          <a:blip r:embed="rId1"/>
          <a:stretch>
            <a:fillRect/>
          </a:stretch>
        </p:blipFill>
        <p:spPr>
          <a:xfrm>
            <a:off x="1001268" y="1869948"/>
            <a:ext cx="329184" cy="329184"/>
          </a:xfrm>
          <a:prstGeom prst="rect">
            <a:avLst/>
          </a:prstGeom>
        </p:spPr>
      </p:pic>
      <p:sp>
        <p:nvSpPr>
          <p:cNvPr id="7" name="next-text-0"/>
          <p:cNvSpPr txBox="1"/>
          <p:nvPr/>
        </p:nvSpPr>
        <p:spPr>
          <a:xfrm>
            <a:off x="1783080" y="1481328"/>
            <a:ext cx="9601200" cy="1097280"/>
          </a:xfrm>
          <a:prstGeom prst="rect">
            <a:avLst/>
          </a:prstGeom>
          <a:noFill/>
          <a:ln/>
        </p:spPr>
        <p:txBody>
          <a:bodyPr wrap="square" lIns="0" tIns="0" rIns="0" bIns="0" rtlCol="0" anchor="ctr"/>
          <a:lstStyle/>
          <a:p>
            <a:pPr indent="0" marL="0">
              <a:buNone/>
            </a:pPr>
            <a:r>
              <a:rPr lang="en-US" sz="1800" b="1" dirty="0">
                <a:solidFill>
                  <a:schemeClr val="tx2"/>
                </a:solidFill>
              </a:rPr>
              <a:t>Fix LoRA artifacts</a:t>
            </a:r>
            <a:endParaRPr lang="en-US" sz="1800" dirty="0"/>
          </a:p>
          <a:p>
            <a:pPr indent="0" marL="0">
              <a:buNone/>
            </a:pPr>
            <a:r>
              <a:rPr lang="en-US" sz="1400" dirty="0">
                <a:solidFill>
                  <a:schemeClr val="tx1"/>
                </a:solidFill>
              </a:rPr>
              <a:t>Name or crop printed signatures in captions; find the portraits behind the upper-lip shadow; pick the best checkpoint with the human rubric.</a:t>
            </a:r>
            <a:endParaRPr lang="en-US" sz="1800" dirty="0"/>
          </a:p>
        </p:txBody>
      </p:sp>
      <p:sp>
        <p:nvSpPr>
          <p:cNvPr id="8" name="next-card-1"/>
          <p:cNvSpPr/>
          <p:nvPr/>
        </p:nvSpPr>
        <p:spPr>
          <a:xfrm>
            <a:off x="548640" y="2926080"/>
            <a:ext cx="11064240" cy="1325880"/>
          </a:xfrm>
          <a:prstGeom prst="roundRect">
            <a:avLst>
              <a:gd name="adj" fmla="val 5517"/>
            </a:avLst>
          </a:prstGeom>
          <a:solidFill>
            <a:schemeClr val="bg2"/>
          </a:solidFill>
          <a:ln/>
        </p:spPr>
      </p:sp>
      <p:sp>
        <p:nvSpPr>
          <p:cNvPr id="9" name="next-1-circle"/>
          <p:cNvSpPr/>
          <p:nvPr/>
        </p:nvSpPr>
        <p:spPr>
          <a:xfrm>
            <a:off x="822960" y="3246120"/>
            <a:ext cx="685800" cy="685800"/>
          </a:xfrm>
          <a:prstGeom prst="ellipse">
            <a:avLst/>
          </a:prstGeom>
          <a:solidFill>
            <a:schemeClr val="accent2"/>
          </a:solidFill>
          <a:ln/>
        </p:spPr>
      </p:sp>
      <p:pic>
        <p:nvPicPr>
          <p:cNvPr id="10" name="next-1-icon" descr="preencoded.png">    </p:cNvPr>
          <p:cNvPicPr>
            <a:picLocks noChangeAspect="1"/>
          </p:cNvPicPr>
          <p:nvPr/>
        </p:nvPicPr>
        <p:blipFill>
          <a:blip r:embed="rId2"/>
          <a:stretch>
            <a:fillRect/>
          </a:stretch>
        </p:blipFill>
        <p:spPr>
          <a:xfrm>
            <a:off x="1001268" y="3424428"/>
            <a:ext cx="329184" cy="329184"/>
          </a:xfrm>
          <a:prstGeom prst="rect">
            <a:avLst/>
          </a:prstGeom>
        </p:spPr>
      </p:pic>
      <p:sp>
        <p:nvSpPr>
          <p:cNvPr id="11" name="next-text-1"/>
          <p:cNvSpPr txBox="1"/>
          <p:nvPr/>
        </p:nvSpPr>
        <p:spPr>
          <a:xfrm>
            <a:off x="1783080" y="3035808"/>
            <a:ext cx="9601200" cy="1097280"/>
          </a:xfrm>
          <a:prstGeom prst="rect">
            <a:avLst/>
          </a:prstGeom>
          <a:noFill/>
          <a:ln/>
        </p:spPr>
        <p:txBody>
          <a:bodyPr wrap="square" lIns="0" tIns="0" rIns="0" bIns="0" rtlCol="0" anchor="ctr"/>
          <a:lstStyle/>
          <a:p>
            <a:pPr indent="0" marL="0">
              <a:buNone/>
            </a:pPr>
            <a:r>
              <a:rPr lang="en-US" sz="1800" b="1" dirty="0">
                <a:solidFill>
                  <a:schemeClr val="tx2"/>
                </a:solidFill>
              </a:rPr>
              <a:t>Milestone 3: scene parser</a:t>
            </a:r>
            <a:endParaRPr lang="en-US" sz="1800" dirty="0"/>
          </a:p>
          <a:p>
            <a:pPr indent="0" marL="0">
              <a:buNone/>
            </a:pPr>
            <a:r>
              <a:rPr lang="en-US" sz="1400" dirty="0">
                <a:solidFill>
                  <a:schemeClr val="tx1"/>
                </a:solidFill>
              </a:rPr>
              <a:t>LLM prompt expansion: epic narrative -&gt; attribute-rich prompt with the trigger token (e.g. "Yudhishthira weeping over Karna at Kurukshetra").</a:t>
            </a:r>
            <a:endParaRPr lang="en-US" sz="1800" dirty="0"/>
          </a:p>
        </p:txBody>
      </p:sp>
      <p:sp>
        <p:nvSpPr>
          <p:cNvPr id="12" name="next-card-2"/>
          <p:cNvSpPr/>
          <p:nvPr/>
        </p:nvSpPr>
        <p:spPr>
          <a:xfrm>
            <a:off x="548640" y="4480560"/>
            <a:ext cx="11064240" cy="1325880"/>
          </a:xfrm>
          <a:prstGeom prst="roundRect">
            <a:avLst>
              <a:gd name="adj" fmla="val 5517"/>
            </a:avLst>
          </a:prstGeom>
          <a:solidFill>
            <a:schemeClr val="bg2"/>
          </a:solidFill>
          <a:ln/>
        </p:spPr>
      </p:sp>
      <p:sp>
        <p:nvSpPr>
          <p:cNvPr id="13" name="next-2-circle"/>
          <p:cNvSpPr/>
          <p:nvPr/>
        </p:nvSpPr>
        <p:spPr>
          <a:xfrm>
            <a:off x="822960" y="4800600"/>
            <a:ext cx="685800" cy="685800"/>
          </a:xfrm>
          <a:prstGeom prst="ellipse">
            <a:avLst/>
          </a:prstGeom>
          <a:solidFill>
            <a:schemeClr val="accent2"/>
          </a:solidFill>
          <a:ln/>
        </p:spPr>
      </p:sp>
      <p:pic>
        <p:nvPicPr>
          <p:cNvPr id="14" name="next-2-icon" descr="preencoded.png">    </p:cNvPr>
          <p:cNvPicPr>
            <a:picLocks noChangeAspect="1"/>
          </p:cNvPicPr>
          <p:nvPr/>
        </p:nvPicPr>
        <p:blipFill>
          <a:blip r:embed="rId3"/>
          <a:stretch>
            <a:fillRect/>
          </a:stretch>
        </p:blipFill>
        <p:spPr>
          <a:xfrm>
            <a:off x="1001268" y="4978908"/>
            <a:ext cx="329184" cy="329184"/>
          </a:xfrm>
          <a:prstGeom prst="rect">
            <a:avLst/>
          </a:prstGeom>
        </p:spPr>
      </p:pic>
      <p:sp>
        <p:nvSpPr>
          <p:cNvPr id="15" name="next-text-2"/>
          <p:cNvSpPr txBox="1"/>
          <p:nvPr/>
        </p:nvSpPr>
        <p:spPr>
          <a:xfrm>
            <a:off x="1783080" y="4590288"/>
            <a:ext cx="9601200" cy="1097280"/>
          </a:xfrm>
          <a:prstGeom prst="rect">
            <a:avLst/>
          </a:prstGeom>
          <a:noFill/>
          <a:ln/>
        </p:spPr>
        <p:txBody>
          <a:bodyPr wrap="square" lIns="0" tIns="0" rIns="0" bIns="0" rtlCol="0" anchor="ctr"/>
          <a:lstStyle/>
          <a:p>
            <a:pPr indent="0" marL="0">
              <a:buNone/>
            </a:pPr>
            <a:r>
              <a:rPr lang="en-US" sz="1800" b="1" dirty="0">
                <a:solidFill>
                  <a:schemeClr val="tx2"/>
                </a:solidFill>
              </a:rPr>
              <a:t>Milestone 4: control &amp; UI</a:t>
            </a:r>
            <a:endParaRPr lang="en-US" sz="1800" dirty="0"/>
          </a:p>
          <a:p>
            <a:pPr indent="0" marL="0">
              <a:buNone/>
            </a:pPr>
            <a:r>
              <a:rPr lang="en-US" sz="1400" dirty="0">
                <a:solidFill>
                  <a:schemeClr val="tx1"/>
                </a:solidFill>
              </a:rPr>
              <a:t>OpenPose / Canny ControlNet for balanced, dignified poses; Gradio panel (text + pose -&gt; image); fuller evaluation and checkpoint hub.</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ummary-title"/>
          <p:cNvSpPr txBox="1"/>
          <p:nvPr/>
        </p:nvSpPr>
        <p:spPr>
          <a:xfrm>
            <a:off x="731520" y="822960"/>
            <a:ext cx="8229600" cy="9144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Summary</a:t>
            </a:r>
            <a:endParaRPr lang="en-US" sz="4400" dirty="0"/>
          </a:p>
        </p:txBody>
      </p:sp>
      <p:sp>
        <p:nvSpPr>
          <p:cNvPr id="3" name="summary-points"/>
          <p:cNvSpPr txBox="1"/>
          <p:nvPr/>
        </p:nvSpPr>
        <p:spPr>
          <a:xfrm>
            <a:off x="731520" y="2103120"/>
            <a:ext cx="8229600" cy="34747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A curated, provenance-tracked 134-image Ravi Varma corpus with grounded VLM captions</a:t>
            </a:r>
            <a:endParaRPr lang="en-US" sz="2000" dirty="0"/>
          </a:p>
          <a:p>
            <a:pPr marL="342900" indent="-342900">
              <a:spcAft>
                <a:spcPts val="1400"/>
              </a:spcAft>
              <a:buSzPct val="100000"/>
              <a:buChar char="•"/>
            </a:pPr>
            <a:r>
              <a:rPr lang="en-US" sz="2000" dirty="0">
                <a:solidFill>
                  <a:schemeClr val="bg1"/>
                </a:solidFill>
              </a:rPr>
              <a:t>A LoRA trained on a T4 that visibly moves SD1.5 toward Varma's staging and rendering</a:t>
            </a:r>
            <a:endParaRPr lang="en-US" sz="2000" dirty="0"/>
          </a:p>
          <a:p>
            <a:pPr marL="342900" indent="-342900">
              <a:spcAft>
                <a:spcPts val="1400"/>
              </a:spcAft>
              <a:buSzPct val="100000"/>
              <a:buChar char="•"/>
            </a:pPr>
            <a:r>
              <a:rPr lang="en-US" sz="2000" dirty="0">
                <a:solidFill>
                  <a:schemeClr val="bg1"/>
                </a:solidFill>
              </a:rPr>
              <a:t>Honest evaluation: clear visual gains, small CLIP gains, two artifacts to fix</a:t>
            </a:r>
            <a:endParaRPr lang="en-US" sz="2000" dirty="0"/>
          </a:p>
          <a:p>
            <a:pPr marL="342900" indent="-342900">
              <a:spcAft>
                <a:spcPts val="1400"/>
              </a:spcAft>
              <a:buSzPct val="100000"/>
              <a:buChar char="•"/>
            </a:pPr>
            <a:r>
              <a:rPr lang="en-US" sz="2000" dirty="0">
                <a:solidFill>
                  <a:schemeClr val="bg1"/>
                </a:solidFill>
              </a:rPr>
              <a:t>Code, data list, results and docs: github.com/f20240684-cmd/the-next-ravi-varma-v2</a:t>
            </a:r>
            <a:endParaRPr lang="en-US" sz="2000" dirty="0"/>
          </a:p>
        </p:txBody>
      </p:sp>
      <p:sp>
        <p:nvSpPr>
          <p:cNvPr id="4" name="thanks"/>
          <p:cNvSpPr txBox="1"/>
          <p:nvPr/>
        </p:nvSpPr>
        <p:spPr>
          <a:xfrm>
            <a:off x="731520" y="5669280"/>
            <a:ext cx="8229600" cy="548640"/>
          </a:xfrm>
          <a:prstGeom prst="rect">
            <a:avLst/>
          </a:prstGeom>
          <a:noFill/>
          <a:ln/>
        </p:spPr>
        <p:txBody>
          <a:bodyPr wrap="square" lIns="0" tIns="0" rIns="0" bIns="0" rtlCol="0" anchor="ctr"/>
          <a:lstStyle/>
          <a:p>
            <a:pPr indent="0" marL="0">
              <a:buNone/>
            </a:pPr>
            <a:r>
              <a:rPr lang="en-US" sz="2400" i="1" dirty="0">
                <a:solidFill>
                  <a:schemeClr val="accent5"/>
                </a:solidFill>
                <a:latin typeface="Cambria" pitchFamily="34" charset="0"/>
                <a:ea typeface="Cambria" pitchFamily="34" charset="-122"/>
                <a:cs typeface="Cambria" pitchFamily="34" charset="-120"/>
              </a:rPr>
              <a:t>Thank you - questions?</a:t>
            </a:r>
            <a:endParaRPr lang="en-US" sz="2400" dirty="0"/>
          </a:p>
        </p:txBody>
      </p:sp>
      <p:pic>
        <p:nvPicPr>
          <p:cNvPr id="5" name="closing-image" descr="/private/tmp/claude-501/-Users-shashwatsahu-Desktop-the-next-ravi-varma/b50e4b20-09e3-45d0-8877-560ccb85868c/scratchpad/deck/assets/window_lora.jpg">    </p:cNvPr>
          <p:cNvPicPr>
            <a:picLocks noChangeAspect="1"/>
          </p:cNvPicPr>
          <p:nvPr/>
        </p:nvPicPr>
        <p:blipFill>
          <a:blip r:embed="rId1"/>
          <a:stretch>
            <a:fillRect/>
          </a:stretch>
        </p:blipFill>
        <p:spPr>
          <a:xfrm>
            <a:off x="9326880" y="914400"/>
            <a:ext cx="2377440" cy="3392424"/>
          </a:xfrm>
          <a:prstGeom prst="rect">
            <a:avLst/>
          </a:prstGeom>
        </p:spPr>
      </p:pic>
      <p:sp>
        <p:nvSpPr>
          <p:cNvPr id="7"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algn="l" indent="0" marL="0">
              <a:buNone/>
            </a:pPr>
            <a:endParaRPr lang="en-US" sz="4800" dirty="0"/>
          </a:p>
        </p:txBody>
      </p:sp>
      <p:sp>
        <p:nvSpPr>
          <p:cNvPr id="8" name="Text 0"/>
          <p:cNvSpPr/>
          <p:nvPr>
            <p:ph idx="101" type="body" hasCustomPrompt="1"/>
          </p:nvPr>
        </p:nvSpPr>
        <p:spPr>
          <a:xfrm>
            <a:off x="731520" y="3520440"/>
            <a:ext cx="10698480" cy="1097280"/>
          </a:xfrm>
          <a:prstGeom prst="rect">
            <a:avLst/>
          </a:prstGeom>
          <a:noFill/>
          <a:ln/>
        </p:spPr>
        <p:txBody>
          <a:bodyPr wrap="square" lIns="0" tIns="0" rIns="0" bIns="0" rtlCol="0" anchor="t"/>
          <a:lstStyle/>
          <a:p>
            <a:pPr algn="l" indent="0" marL="0">
              <a:buNone/>
            </a:pPr>
            <a:endParaRPr lang="en-US" sz="2200" dirty="0"/>
          </a:p>
        </p:txBody>
      </p:sp>
    </p:spTree>
  </p:cSld>
  <p:clrMapOvr>
    <a:masterClrMapping/>
  </p:clrMapOvr>
</p:sld>
</file>

<file path=ppt/theme/theme1.xml><?xml version="1.0" encoding="utf-8"?>
<a:theme xmlns:a="http://schemas.openxmlformats.org/drawingml/2006/main" name="Ravi Varma">
  <a:themeElements>
    <a:clrScheme name="Ravi Varma">
      <a:dk1>
        <a:srgbClr val="1F1A17"/>
      </a:dk1>
      <a:lt1>
        <a:srgbClr val="FFFFFF"/>
      </a:lt1>
      <a:dk2>
        <a:srgbClr val="4A1616"/>
      </a:dk2>
      <a:lt2>
        <a:srgbClr val="F2EDE6"/>
      </a:lt2>
      <a:accent1>
        <a:srgbClr val="B8862B"/>
      </a:accent1>
      <a:accent2>
        <a:srgbClr val="1F5C55"/>
      </a:accent2>
      <a:accent3>
        <a:srgbClr val="8C2F2F"/>
      </a:accent3>
      <a:accent4>
        <a:srgbClr val="6B6560"/>
      </a:accent4>
      <a:accent5>
        <a:srgbClr val="E3C77A"/>
      </a:accent5>
      <a:accent6>
        <a:srgbClr val="2F4858"/>
      </a:accent6>
      <a:hlink>
        <a:srgbClr val="1F5C55"/>
      </a:hlink>
      <a:folHlink>
        <a:srgbClr val="8C2F2F"/>
      </a:folHlink>
    </a:clrScheme>
    <a:fontScheme name="Ravi Varm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Ravi Varma - Milestone 2 Review</dc:title>
  <dc:subject>PptxGenJS Presentation</dc:subject>
  <dc:creator>Shashwat Sahu</dc:creator>
  <cp:lastModifiedBy>Shashwat Sahu</cp:lastModifiedBy>
  <cp:revision>1</cp:revision>
  <dcterms:created xsi:type="dcterms:W3CDTF">2026-10-03T09:34:55Z</dcterms:created>
  <dcterms:modified xsi:type="dcterms:W3CDTF">2026-10-03T09:34:55Z</dcterms:modified>
</cp:coreProperties>
</file>